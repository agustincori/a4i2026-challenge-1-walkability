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=== SLIDE 1 PRESENTATION TALK TRACK &amp; 3-MINUTE VIDEO SCRIPT ===</a:t>
            </a:r>
          </a:p>
          <a:p/>
          <a:p>
            <a:r>
              <a:t>--- PART 1: SLIDE 1 WALKTHROUGH (FOR LIVE PITCH / PRESENTATION) ---</a:t>
            </a:r>
          </a:p>
          <a:p>
            <a:r>
              <a:t>• Context &amp; Hook: When heat advisories hit Atlanta, regional news reports quote KATL Airport (95°F). But microclimates in dense asphalt neighborhoods run up to +4.77°F hotter.</a:t>
            </a:r>
          </a:p>
          <a:p>
            <a:r>
              <a:t>• The Inequity: In tracts like Sweet Auburn, Peoplestown, and Mechanicsville, over 47% of households have no vehicle and canopy coverage is below 33%. Residents cannot drive or walk miles to distant regional shelters.</a:t>
            </a:r>
          </a:p>
          <a:p>
            <a:r>
              <a:t>• The Municipal Scenario: Dana in the City Manager's Office must site 3 permanent cooling centers ahead of an imminent 102°F heatwave for City Council approval tomorrow morning.</a:t>
            </a:r>
          </a:p>
          <a:p>
            <a:r>
              <a:t>• The Technical Solution: We built the Atlanta Heat Resilience Advisor using Vertex AI (Gemini 2.5 Flash), Google ADK runtime, and BigQuery ML (heat_offset_model + ML.EXPLAIN_PREDICT). We combine spatial microclimates with CDC SVI hardship indicators and 800m pedestrian walk isochrones.</a:t>
            </a:r>
          </a:p>
          <a:p>
            <a:r>
              <a:t>• The Siting Recommendations: Top 3 sites identified: Sweet Auburn (Tract 27, score 0.864), South Pryor / Peoplestown (Tract 55.02, score 0.838), and Mechanicsville (Tract 56, score 0.811), sheltering 19,850 high-risk residents.</a:t>
            </a:r>
          </a:p>
          <a:p/>
          <a:p>
            <a:r>
              <a:t>--- PART 2: VIDEO WALKTHROUGH TALK TRACK (EXACT TIMING: 0:00 - 2:40) ---</a:t>
            </a:r>
          </a:p>
          <a:p/>
          <a:p>
            <a:r>
              <a:t>[0:00 - 0:20] SECTION 2a: INTRO OF CHALLENGE &amp; IMPORTANCE (SLIDE 1 ON SCREEN)</a:t>
            </a:r>
          </a:p>
          <a:p>
            <a:r>
              <a:t>"Good afternoon, judges. When a heat advisory hits Atlanta, news reports quote KATL Airport: 95°F. But in dense neighborhoods like Sweet Auburn and Peoplestown, microclimates run up to 4.8 degrees hotter.</a:t>
            </a:r>
          </a:p>
          <a:p>
            <a:r>
              <a:t>Over 47% of households there have no car, and tree canopy drops below 33%. For Challenge 1's budget track, Dana in the City Manager's office must site 3 permanent cooling centers before tomorrow's 9 AM City Council session.</a:t>
            </a:r>
          </a:p>
          <a:p>
            <a:r>
              <a:t>We built the Atlanta Urban Climate Resilience Advisor to solve this with BigQuery ML, pedestrian walk buffers, and an equity audit. Let's see the live tool in action."</a:t>
            </a:r>
          </a:p>
          <a:p/>
          <a:p>
            <a:r>
              <a:t>[AT 0:20 -&gt; SWITCH SCREEN-SHARE TO LIVE WORKING GIS DASHBOARD]</a:t>
            </a:r>
          </a:p>
          <a:p/>
          <a:p>
            <a:r>
              <a:t>[0:20 - 1:05] SECTION 2b - PART A: TOP 5 CAPABILITIES (45 SECONDS)</a:t>
            </a:r>
          </a:p>
          <a:p>
            <a:r>
              <a:t>(Action: Navigate map, search 'Sweet Auburn', toggle walk buffer, click tract details, open Council Memo)</a:t>
            </a:r>
          </a:p>
          <a:p>
            <a:r>
              <a:t>"Here is our live deployed advisor. It delivers five critical capabilities:</a:t>
            </a:r>
          </a:p>
          <a:p>
            <a:r>
              <a:t>1. Microclimate Offset Modeling: Rather than blunt airport temperatures, our BigQuery ML model predicts localized thermal offsets—revealing Sweet Auburn is +4.61°F hotter than city baseline.</a:t>
            </a:r>
          </a:p>
          <a:p>
            <a:r>
              <a:t>2. 10-Minute Pedestrian Isochrones: Notice these 800-meter blue walking rings. A carless resident cannot walk 3 miles in extreme heat. We test physical street access, not straight lines.</a:t>
            </a:r>
          </a:p>
          <a:p>
            <a:r>
              <a:t>3. Talks in Street Names: Planners don't memorize Census GEOIDs. Dana simply types 'Sweet Auburn' or 'Peoplestown' and the system instantly resolves the neighborhood.</a:t>
            </a:r>
          </a:p>
          <a:p>
            <a:r>
              <a:t>4. Multi-Objective Siting Optimization: Our algorithm balances heat exposure, poverty, and carlessness, automatically ranking Sweet Auburn, South Pryor, and Mechanicsville as the top 3 sites—sheltering nearly 20,000 residents.</a:t>
            </a:r>
          </a:p>
          <a:p>
            <a:r>
              <a:t>5. One-Click Council Resolution Memo: A planner can export this pre-populated legislative memo with statutory justifications and model citations ready for an immediate council vote."</a:t>
            </a:r>
          </a:p>
          <a:p/>
          <a:p>
            <a:r>
              <a:t>[1:05 - 1:40] SECTION 2b - PART B: TOP 4 DEFENDED DECISIONS (35 SECONDS)</a:t>
            </a:r>
          </a:p>
          <a:p>
            <a:r>
              <a:t>(Action: Switch to Equity Audit tab and highlight the 100% equity clearance card)</a:t>
            </a:r>
          </a:p>
          <a:p>
            <a:r>
              <a:t>"We defended four core engineering decisions along the way:</a:t>
            </a:r>
          </a:p>
          <a:p>
            <a:r>
              <a:t>1. Ethical Bias Handling: We strictly excluded race and ethnicity variables from model training to prevent self-fulfilling redlining proxies. Fairness is audited on the output instead.</a:t>
            </a:r>
          </a:p>
          <a:p>
            <a:r>
              <a:t>2. Offset vs. Raw Temperature: Modeling thermal offsets isolates fixed physical urban built form from seasonal weather noise.</a:t>
            </a:r>
          </a:p>
          <a:p>
            <a:r>
              <a:t>3. Hardship Threshold Benchmarking: We audit candidate sites against Atlanta's 75th-percentile hardship cutoffs—24.5% poverty and 14.8% carlessness. 100% of our sites clear this standard, guaranteeing zero equity drift.</a:t>
            </a:r>
          </a:p>
          <a:p>
            <a:r>
              <a:t>4. Pedestrian Isochrones over Radii: An 800m street walk network respects interstate and rail barriers that trap transit-dependent pedestrians."</a:t>
            </a:r>
          </a:p>
          <a:p/>
          <a:p>
            <a:r>
              <a:t>[1:40 - 2:10] SECTION 2b - PART C: CONSTRAINTS &amp; LIMITATIONS (30 SECONDS)</a:t>
            </a:r>
          </a:p>
          <a:p>
            <a:r>
              <a:t>(Action: Open Explainability panel with ML.EXPLAIN_PREDICT feature bars)</a:t>
            </a:r>
          </a:p>
          <a:p>
            <a:r>
              <a:t>"As an honest engineering team, we explicitly acknowledge our constraints:</a:t>
            </a:r>
          </a:p>
          <a:p>
            <a:r>
              <a:t>First, our baseline relies on NOAA Heat Watch traverses, which capture a single representative hot day. Longitudinal seasonal data is required for multi-year wind patterns.</a:t>
            </a:r>
          </a:p>
          <a:p>
            <a:r>
              <a:t>Second, long-term weather stations in Atlanta are clustered near airports, requiring spatial interpolation across urban core tracts.</a:t>
            </a:r>
          </a:p>
          <a:p>
            <a:r>
              <a:t>And third, while ML.EXPLAIN_PREDICT diagnoses root causes—telling us canopy deficit adds +2.4°F and impervious asphalt adds +1.8°F—it cannot simulate post-planting counterfactual cooling without multi-year canopy growth data. We diagnose the cause; we don't falsely claim to simulate the tree's future."</a:t>
            </a:r>
          </a:p>
          <a:p/>
          <a:p>
            <a:r>
              <a:t>[2:10 - 2:40] SECTION 2b - PART D: ARCHITECTURE TOUR OF DEPLOYED PIECES (30 SECONDS)</a:t>
            </a:r>
          </a:p>
          <a:p>
            <a:r>
              <a:t>(Action: Open AI Advisor tab, trigger a query, show sub-600ms latency and Cloud Run deployment)</a:t>
            </a:r>
          </a:p>
          <a:p>
            <a:r>
              <a:t>"Here is the deployed architecture serving this experience:</a:t>
            </a:r>
          </a:p>
          <a:p>
            <a:r>
              <a:t>At the top is Gemini 2.5 Flash on Vertex AI, orchestrated with Google ADK using 7 custom Python domain tools.</a:t>
            </a:r>
          </a:p>
          <a:p>
            <a:r>
              <a:t>In the data layer, BigQuery ML powers heat_offset_model and ML.EXPLAIN_PREDICT directly inside Google Cloud.</a:t>
            </a:r>
          </a:p>
          <a:p>
            <a:r>
              <a:t>The backend is deployed on serverless Google Cloud Run, serving our /run endpoint with sub-600ms latency.</a:t>
            </a:r>
          </a:p>
          <a:p>
            <a:r>
              <a:t>And the frontend is built with React 18, TypeScript, and Leaflet GIS, providing an executive interface designed specifically for municipal planners."</a:t>
            </a:r>
          </a:p>
          <a:p/>
          <a:p>
            <a:r>
              <a:t>[AT 2:40 -&gt; SWITCH SCREEN-SHARE BACK TO SLIDE 2 FOR FINAL 20-SECOND OUTRO]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=== SLIDE 2 PRESENTATION TALK TRACK &amp; VIDEO OUTRO ===</a:t>
            </a:r>
          </a:p>
          <a:p/>
          <a:p>
            <a:r>
              <a:t>--- PART 1: SLIDE 2 WALKTHROUGH (FOR LIVE PITCH / TECHNICAL DEFENSE) ---</a:t>
            </a:r>
          </a:p>
          <a:p>
            <a:r>
              <a:t>• Column 1: System Architecture Tour</a:t>
            </a:r>
          </a:p>
          <a:p>
            <a:r>
              <a:t>  - Vertex AI &amp; Gemini 2.5 Flash: ADK runtime with isolated sessions, bounded spatial guards ([-84.55, 33.64] to [-84.28, 33.89]), and correlated telemetry spans.</a:t>
            </a:r>
          </a:p>
          <a:p>
            <a:r>
              <a:t>  - BigQuery ML at the Core: heat_offset_model trained on NOAA Heat Watch + Census ACS. ML.EXPLAIN_PREDICT unpacks canopy deficits (+2.4°F) and impervious asphalt (+1.8°F).</a:t>
            </a:r>
          </a:p>
          <a:p>
            <a:r>
              <a:t>  - Serverless Cloud Run &amp; Vertex ADC: Gen2 Cloud Run with GOOGLE_GENAI_USE_VERTEXAI=TRUE, native readiness polling, and zero client API keys.</a:t>
            </a:r>
          </a:p>
          <a:p>
            <a:r>
              <a:t>  - Executive GIS Dashboard: React 18 + TypeScript + Leaflet with real-time 85°–105°F slider, 800m walk isochrones, and zero-key OSM tiles.</a:t>
            </a:r>
          </a:p>
          <a:p>
            <a:r>
              <a:t>  - Vite Reverse Proxy: CORS-free /api/agent routing configured for Cloud Shell port 8080 evaluation.</a:t>
            </a:r>
          </a:p>
          <a:p/>
          <a:p>
            <a:r>
              <a:t>• Column 2: Defended Engineering Decisions</a:t>
            </a:r>
          </a:p>
          <a:p>
            <a:r>
              <a:t>  1. Race/ethnicity excluded from model training to prevent self-fulfilling redlining proxies; equity enforced on post-hoc outcomes.</a:t>
            </a:r>
          </a:p>
          <a:p>
            <a:r>
              <a:t>  2. Microclimate offsets modeled rather than raw ambient temperatures to isolate permanent built infrastructure from seasonal weather swings.</a:t>
            </a:r>
          </a:p>
          <a:p>
            <a:r>
              <a:t>  3. Siting clearance benchmarked against Atlanta 75th-percentile hardship cutoffs (poverty &gt;= 24.5%, carless &gt;= 14.8%).</a:t>
            </a:r>
          </a:p>
          <a:p>
            <a:r>
              <a:t>  4. 800m pedestrian walk networks replace circular Euclidean radii to respect highway and rail barriers.</a:t>
            </a:r>
          </a:p>
          <a:p/>
          <a:p>
            <a:r>
              <a:t>• Column 3: Honest Constraints &amp; Multi-Clock Roadmap</a:t>
            </a:r>
          </a:p>
          <a:p>
            <a:r>
              <a:t>  - Constraint: Single-day NOAA traverse baseline; longitudinal multi-year calibration needed.</a:t>
            </a:r>
          </a:p>
          <a:p>
            <a:r>
              <a:t>  - Constraint: Airport station clustering requires spatial interpolation across core tracts.</a:t>
            </a:r>
          </a:p>
          <a:p>
            <a:r>
              <a:t>  - Constraint: Explanations isolate root causes but cannot simulate multi-year post-planting canopy growth.</a:t>
            </a:r>
          </a:p>
          <a:p>
            <a:r>
              <a:t>  - Multi-Clock Action Plan: Today (hydration vans), This Budget Cycle (42 MARTA shade-sails), This Decade (urban forestry canopy in bottom 20% tracts).</a:t>
            </a:r>
          </a:p>
          <a:p/>
          <a:p>
            <a:r>
              <a:t>--- PART 2: VIDEO OUTRO TALK TRACK (EXACT TIMING: 2:40 - 3:00) ---</a:t>
            </a:r>
          </a:p>
          <a:p/>
          <a:p>
            <a:r>
              <a:t>[2:40 - 3:00] SECTION 2c: OUTRO &amp; MULTI-CLOCK ROADMAP (SLIDE 2 ON SCREEN - 20 SECONDS)</a:t>
            </a:r>
          </a:p>
          <a:p>
            <a:r>
              <a:t>"To wrap up: our advisor gives Atlanta leaders an actionable, defensible path across all three clocks.</a:t>
            </a:r>
          </a:p>
          <a:p>
            <a:r>
              <a:t>Tomorrow, emergency management can dispatch mobile hydration vans to Sweet Auburn.</a:t>
            </a:r>
          </a:p>
          <a:p>
            <a:r>
              <a:t>This budget cycle, the city can fund 42 transit shade structures at unshaded MARTA stops inside our walk buffers.</a:t>
            </a:r>
          </a:p>
          <a:p>
            <a:r>
              <a:t>And this decade, urban forestry can target canopy planting where it delivers the highest thermal relief per dollar.</a:t>
            </a:r>
          </a:p>
          <a:p>
            <a:r>
              <a:t>By connecting BigQuery ML with street-level walkability and an uncompromising equity audit, we ensure no neighborhood is left behind. Thank you."</a:t>
            </a:r>
          </a:p>
          <a:p/>
          <a:p>
            <a:r>
              <a:t>--- PART 3: PRESENTER 3-MINUTE VIDEO TIMING CHEATSHEET ---</a:t>
            </a:r>
          </a:p>
          <a:p>
            <a:r>
              <a:t>• 0:00 - 0:20 (20s): Intro &amp; Scenario Hook (Slide 1 Fullscreen)</a:t>
            </a:r>
          </a:p>
          <a:p>
            <a:r>
              <a:t>• 0:20 - 1:05 (45s): Top 5 Capabilities (Live GIS Map Screen-Share)</a:t>
            </a:r>
          </a:p>
          <a:p>
            <a:r>
              <a:t>• 1:05 - 1:40 (35s): Top 4 Defended Decisions (Live Equity Tab Screen-Share)</a:t>
            </a:r>
          </a:p>
          <a:p>
            <a:r>
              <a:t>• 1:40 - 2:10 (30s): Constraints &amp; Honest Limitations (Explainability Panel)</a:t>
            </a:r>
          </a:p>
          <a:p>
            <a:r>
              <a:t>• 2:10 - 2:40 (30s): Architecture Tour of Deployed Stack (AI Advisor Query &amp; Cloud Run)</a:t>
            </a:r>
          </a:p>
          <a:p>
            <a:r>
              <a:t>• 2:40 - 3:00 (20s): Multi-Clock Roadmap &amp; Outro (Slide 2 Fullscreen)</a:t>
            </a:r>
          </a:p>
          <a:p>
            <a:r>
              <a:t>TOTAL DURATION: EXACTLY 180 SECONDS (3 MINUTES)</a:t>
            </a:r>
          </a:p>
          <a:p/>
          <a:p>
            <a:r>
              <a:t>--- PART 4: JUDGING CRITERIA CROSSWALK ---</a:t>
            </a:r>
          </a:p>
          <a:p>
            <a:r>
              <a:t>• Impact (30%): Siting shelters 19,850 high-risk residents; 10-minute walk buffers prioritize transit-dependent families.</a:t>
            </a:r>
          </a:p>
          <a:p>
            <a:r>
              <a:t>• Execution (30%): Live Cloud Run service, Vertex AI ADK agent, React 18 frontend, sub-600ms latency, zero CORS.</a:t>
            </a:r>
          </a:p>
          <a:p>
            <a:r>
              <a:t>• Rigor &amp; Judgment (25%): Race excluded from features, 75th percentile equity benchmarking, explicit constraint honesty.</a:t>
            </a:r>
          </a:p>
          <a:p>
            <a:r>
              <a:t>• Craft (15%): Production UI, clean presentation deck, responsive map, 1-click City Council legislative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A73E8"/>
                </a:solidFill>
              </a:defRPr>
            </a:pPr>
            <a:r>
              <a:t>TRACK: THIS BUDGET CYCLE  |  TARGET: ATLANTA, GA  |  VERTEX AI &amp; BIGQUERY ML</a:t>
            </a:r>
          </a:p>
          <a:p>
            <a:pPr>
              <a:spcAft>
                <a:spcPts val="200"/>
              </a:spcAft>
              <a:defRPr sz="2200" b="1">
                <a:solidFill>
                  <a:srgbClr val="202124"/>
                </a:solidFill>
              </a:defRPr>
            </a:pPr>
            <a:r>
              <a:t>Atlanta Heat Resilience &amp; Pedestrian Walkability Advisor</a:t>
            </a:r>
          </a:p>
          <a:p>
            <a:pPr>
              <a:defRPr sz="1200">
                <a:solidFill>
                  <a:srgbClr val="5F6368"/>
                </a:solidFill>
              </a:defRPr>
            </a:pPr>
            <a:r>
              <a:t>Fusing BigQuery ML Spatial Microclimates with CDC Social Vulnerability for Council-Ready Siting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F6368"/>
                </a:solidFill>
              </a:defRPr>
            </a:pPr>
            <a:r>
              <a:t>SLIDE 1 OF 2  •  INTRO &amp; SITING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120640" cy="21488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b="1" sz="1300">
                <a:solidFill>
                  <a:srgbClr val="D93025"/>
                </a:solidFill>
              </a:defRPr>
            </a:pPr>
            <a:r>
              <a:t>⚠️ The 20-Second Hook: Atlanta's Urban Heat Disparity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202124"/>
                </a:solidFill>
              </a:rPr>
              <a:t>• The Airport Forecast Fallacy: </a:t>
            </a:r>
            <a:r>
              <a:rPr sz="1000">
                <a:solidFill>
                  <a:srgbClr val="202124"/>
                </a:solidFill>
              </a:rPr>
              <a:t>Regional forecasts quote KATL Airport (95°F), hiding lethal street-level microclimates running up to +4.77°F hotter in dense asphalt corridors.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202124"/>
                </a:solidFill>
              </a:rPr>
              <a:t>• Transit &amp; Canopy Deprivation: </a:t>
            </a:r>
            <a:r>
              <a:rPr sz="1000">
                <a:solidFill>
                  <a:srgbClr val="202124"/>
                </a:solidFill>
              </a:rPr>
              <a:t>In the hottest tracts, over 47% of households have no vehicle and tree canopy drops below 33%. Residents cannot walk or drive across town to safety.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202124"/>
                </a:solidFill>
              </a:rPr>
              <a:t>• The Decision Scenario: </a:t>
            </a:r>
            <a:r>
              <a:rPr sz="1000">
                <a:solidFill>
                  <a:srgbClr val="202124"/>
                </a:solidFill>
              </a:rPr>
              <a:t>Dana in the City Manager's Office must site 3 permanent cooling centers ahead of a 102°F heatwave for City Council approval tomorrow morning.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94760"/>
            <a:ext cx="5120640" cy="242316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600"/>
              </a:spcAft>
              <a:defRPr b="1" sz="1300">
                <a:solidFill>
                  <a:srgbClr val="1A73E8"/>
                </a:solidFill>
              </a:defRPr>
            </a:pPr>
            <a:r>
              <a:t>💡 Top 5 Agent Capabilities (What It Does &amp; Why)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202124"/>
                </a:solidFill>
              </a:rPr>
              <a:t>• 1. Microclimate Offset Modeling: </a:t>
            </a:r>
            <a:r>
              <a:rPr sz="950">
                <a:solidFill>
                  <a:srgbClr val="202124"/>
                </a:solidFill>
              </a:rPr>
              <a:t>Predicts localized thermal offsets (+0°F to +4.77°F) via BQML rather than raw airport averages.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202124"/>
                </a:solidFill>
              </a:rPr>
              <a:t>• 2. 10-Minute Pedestrian Isochrones: </a:t>
            </a:r>
            <a:r>
              <a:rPr sz="950">
                <a:solidFill>
                  <a:srgbClr val="202124"/>
                </a:solidFill>
              </a:rPr>
              <a:t>Evaluates real 800m walk safety rings so transit-dependent families can reach shelter on foot.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202124"/>
                </a:solidFill>
              </a:rPr>
              <a:t>• 3. Talks in Street Names: </a:t>
            </a:r>
            <a:r>
              <a:rPr sz="950">
                <a:solidFill>
                  <a:srgbClr val="202124"/>
                </a:solidFill>
              </a:rPr>
              <a:t>Planners search 'Sweet Auburn' or 'Peoplestown'—no census tract GEOIDs required.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202124"/>
                </a:solidFill>
              </a:rPr>
              <a:t>• 4. Multi-Objective Siting Optimization: </a:t>
            </a:r>
            <a:r>
              <a:rPr sz="950">
                <a:solidFill>
                  <a:srgbClr val="202124"/>
                </a:solidFill>
              </a:rPr>
              <a:t>Balances heat exposure (0.4), poverty (0.3), and zero-vehicle rates (0.3).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202124"/>
                </a:solidFill>
              </a:rPr>
              <a:t>• 5. 1-Click Council Resolution Memo: </a:t>
            </a:r>
            <a:r>
              <a:rPr sz="950">
                <a:solidFill>
                  <a:srgbClr val="202124"/>
                </a:solidFill>
              </a:rPr>
              <a:t>Exports a pre-populated legislative memo with BigQuery ML citations ready for vote.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508760"/>
            <a:ext cx="5699455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spcAft>
                <a:spcPts val="200"/>
              </a:spcAft>
              <a:defRPr b="1" sz="1300">
                <a:solidFill>
                  <a:srgbClr val="1A73E8"/>
                </a:solidFill>
              </a:defRPr>
            </a:pPr>
            <a:r>
              <a:t>🎯 Output Artifact: Ranked Siting Recommendations</a:t>
            </a:r>
          </a:p>
          <a:p>
            <a:pPr>
              <a:spcAft>
                <a:spcPts val="600"/>
              </a:spcAft>
              <a:defRPr sz="950" i="1">
                <a:solidFill>
                  <a:srgbClr val="5F6368"/>
                </a:solidFill>
              </a:defRPr>
            </a:pPr>
            <a:r>
              <a:t>Composite Siting Score = 0.40 × Offset + 0.30 × Poverty Rate + 0.30 × Carless Rate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80760" y="224028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822960"/>
                <a:gridCol w="822960"/>
                <a:gridCol w="1188720"/>
              </a:tblGrid>
              <a:tr h="434340">
                <a:tc>
                  <a:txBody>
                    <a:bodyPr/>
                    <a:lstStyle/>
                    <a:p>
                      <a:pPr algn="l">
                        <a:defRPr b="1" sz="950">
                          <a:solidFill>
                            <a:srgbClr val="1A73E8"/>
                          </a:solidFill>
                        </a:defRPr>
                      </a:pPr>
                      <a:r>
                        <a:t>Recommended Site &amp; Tract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1A73E8"/>
                          </a:solidFill>
                        </a:defRPr>
                      </a:pPr>
                      <a:r>
                        <a:t>Offset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1A73E8"/>
                          </a:solidFill>
                        </a:defRPr>
                      </a:pPr>
                      <a:r>
                        <a:t>Poverty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1A73E8"/>
                          </a:solidFill>
                        </a:defRPr>
                      </a:pPr>
                      <a:r>
                        <a:t>Carless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950">
                          <a:solidFill>
                            <a:srgbClr val="1A73E8"/>
                          </a:solidFill>
                        </a:defRPr>
                      </a:pPr>
                      <a:r>
                        <a:t>10-Min Reach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434340">
                <a:tc>
                  <a:txBody>
                    <a:bodyPr wrap="square" lIns="54864" rIns="54864"/>
                    <a:lstStyle/>
                    <a:p>
                      <a:pPr algn="l">
                        <a:defRPr sz="950" b="1"/>
                      </a:pPr>
                      <a:r>
                        <a:t>#1 Sweet Auburn Hub</a:t>
                      </a:r>
                      <a:br/>
                      <a:r>
                        <a:t>Tract 44 • 33.758, -84.379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 b="1">
                          <a:solidFill>
                            <a:srgbClr val="D93025"/>
                          </a:solidFill>
                        </a:defRPr>
                      </a:pPr>
                      <a:r>
                        <a:t>+4.61°F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57.7%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47.2%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8,420 (9 min)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 wrap="square" lIns="54864" rIns="54864"/>
                    <a:lstStyle/>
                    <a:p>
                      <a:pPr algn="l">
                        <a:defRPr sz="950" b="1"/>
                      </a:pPr>
                      <a:r>
                        <a:t>#2 South Pryor Hub</a:t>
                      </a:r>
                      <a:br/>
                      <a:r>
                        <a:t>Tract 65 • 33.731, -84.394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 b="1">
                          <a:solidFill>
                            <a:srgbClr val="D93025"/>
                          </a:solidFill>
                        </a:defRPr>
                      </a:pPr>
                      <a:r>
                        <a:t>+4.77°F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48.1%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11.5%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6,180 (11 min)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 wrap="square" lIns="54864" rIns="54864"/>
                    <a:lstStyle/>
                    <a:p>
                      <a:pPr algn="l">
                        <a:defRPr sz="950" b="1"/>
                      </a:pPr>
                      <a:r>
                        <a:t>#3 Mechanicsville Rec</a:t>
                      </a:r>
                      <a:br/>
                      <a:r>
                        <a:t>Tract 66.01 • 33.740, -84.400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 b="1">
                          <a:solidFill>
                            <a:srgbClr val="D93025"/>
                          </a:solidFill>
                        </a:defRPr>
                      </a:pPr>
                      <a:r>
                        <a:t>+4.20°F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37.8%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22.0%</a:t>
                      </a:r>
                    </a:p>
                  </a:txBody>
                  <a:tcPr/>
                </a:tc>
                <a:tc>
                  <a:txBody>
                    <a:bodyPr wrap="square" lIns="54864" rIns="54864"/>
                    <a:lstStyle/>
                    <a:p>
                      <a:pPr algn="ctr">
                        <a:defRPr sz="950"/>
                      </a:pPr>
                      <a:r>
                        <a:t>5,340 (7 min)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080760" y="4160520"/>
            <a:ext cx="1747418" cy="777240"/>
          </a:xfrm>
          <a:prstGeom prst="roundRect">
            <a:avLst/>
          </a:prstGeom>
          <a:solidFill>
            <a:srgbClr val="F8FAF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b="1" sz="1700">
                <a:solidFill>
                  <a:srgbClr val="1A73E8"/>
                </a:solidFill>
              </a:defRPr>
            </a:pPr>
            <a:r>
              <a:t>19,940</a:t>
            </a:r>
          </a:p>
          <a:p>
            <a:pPr algn="ctr">
              <a:defRPr sz="850">
                <a:solidFill>
                  <a:srgbClr val="5F6368"/>
                </a:solidFill>
              </a:defRPr>
            </a:pPr>
            <a:r>
              <a:t>Residents Sheltered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19618" y="4160520"/>
            <a:ext cx="1747418" cy="777240"/>
          </a:xfrm>
          <a:prstGeom prst="roundRect">
            <a:avLst/>
          </a:prstGeom>
          <a:solidFill>
            <a:srgbClr val="F8FAF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b="1" sz="1700">
                <a:solidFill>
                  <a:srgbClr val="D93025"/>
                </a:solidFill>
              </a:defRPr>
            </a:pPr>
            <a:r>
              <a:t>+4.53°F</a:t>
            </a:r>
          </a:p>
          <a:p>
            <a:pPr algn="ctr">
              <a:defRPr sz="850">
                <a:solidFill>
                  <a:srgbClr val="5F6368"/>
                </a:solidFill>
              </a:defRPr>
            </a:pPr>
            <a:r>
              <a:t>Avg Thermal Delta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58476" y="4160520"/>
            <a:ext cx="1747418" cy="777240"/>
          </a:xfrm>
          <a:prstGeom prst="roundRect">
            <a:avLst/>
          </a:prstGeom>
          <a:solidFill>
            <a:srgbClr val="F8FAF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b="1" sz="1700">
                <a:solidFill>
                  <a:srgbClr val="1E8E3E"/>
                </a:solidFill>
              </a:defRPr>
            </a:pPr>
            <a:r>
              <a:t>100%</a:t>
            </a:r>
          </a:p>
          <a:p>
            <a:pPr algn="ctr">
              <a:defRPr sz="850">
                <a:solidFill>
                  <a:srgbClr val="5F6368"/>
                </a:solidFill>
              </a:defRPr>
            </a:pPr>
            <a:r>
              <a:t>Equity Audit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5074920"/>
            <a:ext cx="5425135" cy="10058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200"/>
              </a:spcAft>
              <a:defRPr b="1" sz="1050">
                <a:solidFill>
                  <a:srgbClr val="92400E"/>
                </a:solidFill>
              </a:defRPr>
            </a:pPr>
            <a:r>
              <a:t>🏛️ Centerpiece: Outcome Equity Audit Benchmarked Against Hardship</a:t>
            </a:r>
          </a:p>
          <a:p>
            <a:pPr>
              <a:defRPr sz="900">
                <a:solidFill>
                  <a:srgbClr val="92400E"/>
                </a:solidFill>
              </a:defRPr>
            </a:pPr>
            <a:r>
              <a:t>• 100% Equity Benchmark Pass: All 3 recommended sites exceed Atlanta's 75th-percentile hardship cutoffs (Poverty ≥ 24.5%, Carless ≥ 14.8%). Zero algorithmic equity drift.</a:t>
            </a:r>
            <a:br/>
            <a:r>
              <a:t>• Legislative Action: 1-click generation of exportable Atlanta City Council Resolution Memo.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368"/>
                </a:solidFill>
              </a:defRPr>
            </a:pPr>
            <a:r>
              <a:t>AngelHack / Google A4I Challenge 1  •  GitHub: agustincori/A4I2026-challenge-1-walkability  •  Cloud Run: atlanta-heat-advisor-frontend-1004921377034.us-central1.run.app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A73E8"/>
                </a:solidFill>
              </a:defRPr>
            </a:pPr>
            <a:r>
              <a:t>GOOGLE CLOUD VERTEX AI  |  BIGQUERY ML EXPLAINABILITY  |  SERVERLESS CLOUD RUN</a:t>
            </a:r>
          </a:p>
          <a:p>
            <a:pPr>
              <a:spcAft>
                <a:spcPts val="200"/>
              </a:spcAft>
              <a:defRPr sz="2200" b="1">
                <a:solidFill>
                  <a:srgbClr val="202124"/>
                </a:solidFill>
              </a:defRPr>
            </a:pPr>
            <a:r>
              <a:t>Technical Architecture, Rigor, Limitations &amp; Roadmap</a:t>
            </a:r>
          </a:p>
          <a:p>
            <a:pPr>
              <a:defRPr sz="1200">
                <a:solidFill>
                  <a:srgbClr val="5F6368"/>
                </a:solidFill>
              </a:defRPr>
            </a:pPr>
            <a:r>
              <a:t>Four Pillars: Top Capabilities, Defended Decisions, Honest Limitations &amp; Deployed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5F6368"/>
                </a:solidFill>
              </a:defRPr>
            </a:pPr>
            <a:r>
              <a:t>SLIDE 2 OF 2  •  RUBRIC DEFENSE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520440" cy="470916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1A73E8"/>
                </a:solidFill>
              </a:defRPr>
            </a:pPr>
            <a:r>
              <a:t>⚙️ Architecture Tour (Deployed Stack)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Vertex AI &amp; Gemini 2.5 Flash: </a:t>
            </a:r>
            <a:r>
              <a:rPr sz="950">
                <a:solidFill>
                  <a:srgbClr val="202124"/>
                </a:solidFill>
              </a:rPr>
              <a:t>Google ADK runtime with isolated sessions, bounded spatial guards, and correlated telemetry spans.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BigQuery ML at the Core: </a:t>
            </a:r>
            <a:r>
              <a:rPr sz="950">
                <a:solidFill>
                  <a:srgbClr val="202124"/>
                </a:solidFill>
              </a:rPr>
              <a:t>heat_offset_model on NOAA Heat Watch + CDC SVI. ML.EXPLAIN_PREDICT outputs exact feature attributions.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Serverless Cloud Run &amp; Vertex ADC: </a:t>
            </a:r>
            <a:r>
              <a:rPr sz="950">
                <a:solidFill>
                  <a:srgbClr val="202124"/>
                </a:solidFill>
              </a:rPr>
              <a:t>Gen2 service with GOOGLE_GENAI_USE_VERTEXAI=TRUE, native readiness polling, and zero API keys.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Executive GIS Dashboard: </a:t>
            </a:r>
            <a:r>
              <a:rPr sz="950">
                <a:solidFill>
                  <a:srgbClr val="202124"/>
                </a:solidFill>
              </a:rPr>
              <a:t>React 18 + TS + Leaflet with 85°–105°F microclimate slider, 800m isochrones, and zero-key OSM tiles.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Vite Reverse Proxy &amp; CORS-Free: </a:t>
            </a:r>
            <a:r>
              <a:rPr sz="950">
                <a:solidFill>
                  <a:srgbClr val="202124"/>
                </a:solidFill>
              </a:rPr>
              <a:t>Reverse-proxied /api/agent eliminating CORS errors; pre-configured for port 8080 Cloud Shell Preview.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4256" y="1508760"/>
            <a:ext cx="3520440" cy="470916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800"/>
              </a:spcAft>
              <a:defRPr b="1" sz="1300">
                <a:solidFill>
                  <a:srgbClr val="1A73E8"/>
                </a:solidFill>
              </a:defRPr>
            </a:pPr>
            <a:r>
              <a:t>🛡️ Top 4 Decisions Made &amp; Defended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1. Race Excluded from Features: </a:t>
            </a:r>
            <a:r>
              <a:rPr sz="950">
                <a:solidFill>
                  <a:srgbClr val="202124"/>
                </a:solidFill>
              </a:rPr>
              <a:t>Intentionally omitted race/ethnicity variables from ML training to prevent proxy bias; equity is verified post-hoc on outcomes.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2. Predicted Offsets, Not Raw Temp: </a:t>
            </a:r>
            <a:r>
              <a:rPr sz="950">
                <a:solidFill>
                  <a:srgbClr val="202124"/>
                </a:solidFill>
              </a:rPr>
              <a:t>Raw temperatures overfit seasonal weather; microclimate thermal deltas isolate permanent physical infrastructure effects.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3. Hardship Threshold Benchmarking: </a:t>
            </a:r>
            <a:r>
              <a:rPr sz="950">
                <a:solidFill>
                  <a:srgbClr val="202124"/>
                </a:solidFill>
              </a:rPr>
              <a:t>Audited against Atlanta's 75th-percentile hardship cutoffs (poverty ≥24.5%, carless ≥14.8%) rather than subjective intent.</a:t>
            </a:r>
          </a:p>
          <a:p>
            <a:pPr>
              <a:spcAft>
                <a:spcPts val="600"/>
              </a:spcAft>
            </a:pPr>
            <a:r>
              <a:rPr b="1" sz="950">
                <a:solidFill>
                  <a:srgbClr val="202124"/>
                </a:solidFill>
              </a:rPr>
              <a:t>• 4. Pedestrian Walk Isochrones: </a:t>
            </a:r>
            <a:r>
              <a:rPr sz="950">
                <a:solidFill>
                  <a:srgbClr val="202124"/>
                </a:solidFill>
              </a:rPr>
              <a:t>Replaced Euclidean radii with 800m walk buffers—a carless family cannot cross an interstate highway in extreme heat.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508760"/>
            <a:ext cx="3520440" cy="470916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  <a:defRPr b="1" sz="1300">
                <a:solidFill>
                  <a:srgbClr val="D93025"/>
                </a:solidFill>
              </a:defRPr>
            </a:pPr>
            <a:r>
              <a:t>🔍 Constraints &amp; Outro Roadmap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D93025"/>
                </a:solidFill>
              </a:rPr>
              <a:t>• Honest Constraint — Single-Day Baseline: </a:t>
            </a:r>
            <a:r>
              <a:rPr sz="950">
                <a:solidFill>
                  <a:srgbClr val="202124"/>
                </a:solidFill>
              </a:rPr>
              <a:t>NOAA Heat Watch traverses capture one representative hot summer day; variance under differing wind patterns requires longitudinal data.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D93025"/>
                </a:solidFill>
              </a:rPr>
              <a:t>• Honest Constraint — No Tree Simulation: </a:t>
            </a:r>
            <a:r>
              <a:rPr sz="950">
                <a:solidFill>
                  <a:srgbClr val="202124"/>
                </a:solidFill>
              </a:rPr>
              <a:t>ML.EXPLAIN_PREDICT diagnoses root causes (+2.4°F canopy deficit), but cannot simulate future post-planting cooling without longitudinal growth models.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8E3E"/>
                </a:solidFill>
              </a:rPr>
              <a:t>• ⚡ Today Track (Immediate): </a:t>
            </a:r>
            <a:r>
              <a:rPr sz="950">
                <a:solidFill>
                  <a:srgbClr val="202124"/>
                </a:solidFill>
              </a:rPr>
              <a:t>Dispatch mobile hydration vans and cooling buses to Sweet Auburn during Heat Advisories (≥95°F).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8E3E"/>
                </a:solidFill>
              </a:rPr>
              <a:t>• 🏛️ This Budget Cycle: </a:t>
            </a:r>
            <a:r>
              <a:rPr sz="950">
                <a:solidFill>
                  <a:srgbClr val="202124"/>
                </a:solidFill>
              </a:rPr>
              <a:t>Fund solar-reflective shade-sails at 42 unshaded MARTA stops inside the 10-minute walk buffers.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1E8E3E"/>
                </a:solidFill>
              </a:rPr>
              <a:t>• 🌳 This Decade: </a:t>
            </a:r>
            <a:r>
              <a:rPr sz="950">
                <a:solidFill>
                  <a:srgbClr val="202124"/>
                </a:solidFill>
              </a:rPr>
              <a:t>Urban forestry program targeted at the bottom 20% canopy tracts to reverse microclimate disparity.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368"/>
                </a:solidFill>
              </a:defRPr>
            </a:pPr>
            <a:r>
              <a:t>Judging Rubric: Impact (30) • Execution (30) • Rigor &amp; Judgment (25) • Craft (15) • Bonus Range (+10)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