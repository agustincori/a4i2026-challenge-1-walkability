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30">
          <p15:clr>
            <a:srgbClr val="747775"/>
          </p15:clr>
        </p15:guide>
        <p15:guide id="2" pos="144">
          <p15:clr>
            <a:srgbClr val="747775"/>
          </p15:clr>
        </p15:guide>
        <p15:guide id="3" orient="horz" pos="360">
          <p15:clr>
            <a:srgbClr val="747775"/>
          </p15:clr>
        </p15:guide>
        <p15:guide id="4" pos="446">
          <p15:clr>
            <a:srgbClr val="747775"/>
          </p15:clr>
        </p15:guide>
        <p15:guide id="5" pos="5477">
          <p15:clr>
            <a:srgbClr val="747775"/>
          </p15:clr>
        </p15:guide>
        <p15:guide id="6" orient="horz" pos="1253">
          <p15:clr>
            <a:srgbClr val="747775"/>
          </p15:clr>
        </p15:guide>
        <p15:guide id="7" pos="284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63002A-2912-44D3-9004-54B48C4A974D}">
  <a:tblStyle styleId="{9963002A-2912-44D3-9004-54B48C4A97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30" orient="horz"/>
        <p:guide pos="144"/>
        <p:guide pos="360" orient="horz"/>
        <p:guide pos="446"/>
        <p:guide pos="5477"/>
        <p:guide pos="1253" orient="horz"/>
        <p:guide pos="284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76d7e2a9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76d7e2a9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SUBMISSION INSTRUCTIONS &amp; COMPETITION CHECKLIST ===</a:t>
            </a:r>
          </a:p>
          <a:p/>
          <a:p>
            <a:r>
              <a:t>Official Template: ATL-6 - Google Slides</a:t>
            </a:r>
          </a:p>
          <a:p>
            <a:r>
              <a:t>Team ID: ATL-6</a:t>
            </a:r>
          </a:p>
          <a:p>
            <a:r>
              <a:t>Challenge 1: Community Climate Resilience (Urban Heat Track)</a:t>
            </a:r>
          </a:p>
          <a:p>
            <a:r>
              <a:t>Track: This Budget Cycle (Cooling Center Siting &amp; Infrastructure Investment)</a:t>
            </a:r>
          </a:p>
          <a:p/>
          <a:p>
            <a:r>
              <a:t>Submission Checklist:</a:t>
            </a:r>
          </a:p>
          <a:p>
            <a:r>
              <a:t>1. Squad Environment Link: Deployed Cloud Run Agent API &amp; React 18 GIS Dashboard</a:t>
            </a:r>
          </a:p>
          <a:p>
            <a:r>
              <a:t>2. Live App / Demo Link: https://atlanta-heat-advisor-frontend-1004921377034.us-central1.run.app</a:t>
            </a:r>
          </a:p>
          <a:p>
            <a:r>
              <a:t>3. GitHub Repository: https://github.com/agustincori/A4I2026-challenge-1-walkability</a:t>
            </a:r>
          </a:p>
          <a:p>
            <a:r>
              <a:t>4. Recorded Pitch Video: Exactly 3 minutes (0:20 intro, 2:20 demo, 0:20 outro)</a:t>
            </a:r>
          </a:p>
          <a:p>
            <a:r>
              <a:t>5. Pitch Deck: 6 required submission slides (Slides 2-7 completely filled out)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52fa8b8a4798773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52fa8b8a4798773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SLIDE 2: TITLE &amp; TEAM IDENTIFICATION ===</a:t>
            </a:r>
          </a:p>
          <a:p/>
          <a:p>
            <a:r>
              <a:t>Team: ATL-6</a:t>
            </a:r>
          </a:p>
          <a:p>
            <a:r>
              <a:t>Solution: Atlanta Urban Climate Resilience &amp; Walkability Advisor</a:t>
            </a:r>
          </a:p>
          <a:p>
            <a:r>
              <a:t>Challenge 1: Urban Heat Track (Target Municipality: Atlanta, GA)</a:t>
            </a:r>
          </a:p>
          <a:p>
            <a:r>
              <a:t>Live Deployed Dashboard: https://atlanta-heat-advisor-frontend-1004921377034.us-central1.run.app</a:t>
            </a:r>
          </a:p>
          <a:p>
            <a:r>
              <a:t>Cloud Run Agent API: https://atlanta-heat-advisor-1004921377034.us-central1.run.app</a:t>
            </a:r>
          </a:p>
          <a:p>
            <a:r>
              <a:t>GitHub Repository: https://github.com/agustincori/A4I2026-challenge-1-walkability</a:t>
            </a:r>
          </a:p>
          <a:p/>
          <a:p>
            <a:r>
              <a:t>--- VIDEO WALKTHROUGH INTRO (0:00 - 0:20) ---</a:t>
            </a:r>
          </a:p>
          <a:p>
            <a:r>
              <a:t>"Good afternoon, judges. When a heat advisory hits Atlanta, news reports quote KATL Airport: 95°F. But in dense neighborhoods like Sweet Auburn and Peoplestown, microclimates run up to 4.8 degrees hotter. Over 47% of households there have no car, and tree canopy drops below 33%. For Challenge 1's budget track, Dana in the City Manager's office must site 3 permanent cooling centers before tomorrow's 9 AM City Council session. We built the Atlanta Urban Climate Resilience Advisor to solve this with BigQuery ML, pedestrian walk buffers, and an equity audit. Let's see the live tool in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52fa8b8a4798773f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52fa8b8a4798773f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SLIDE 3: TEAM &amp; FILMING AVAILABILITY ===</a:t>
            </a:r>
          </a:p>
          <a:p/>
          <a:p>
            <a:r>
              <a:t>Team ID: ATL-6</a:t>
            </a:r>
          </a:p>
          <a:p>
            <a:r>
              <a:t>Members: Agustin Corigliano (pagustincorigliano@gmail.com), tshuggler (tshuggler@gmail.com)</a:t>
            </a:r>
          </a:p>
          <a:p>
            <a:r>
              <a:t>Filming Availability: Both team members confirm availability to return to Coca-Cola Roxy between 1:00-4:00 PM on Thursday 10/29.</a:t>
            </a:r>
          </a:p>
          <a:p>
            <a:r>
              <a:t>Project Sharing: YES - Authorized to share with employer and community partners.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52fa8b8a4798773f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52fa8b8a4798773f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SLIDE 4: REAL-WORLD CHALLENGE &amp; SOCIETAL IMPACT ===</a:t>
            </a:r>
          </a:p>
          <a:p/>
          <a:p>
            <a:r>
              <a:t>Key Talking Points:</a:t>
            </a:r>
          </a:p>
          <a:p>
            <a:r>
              <a:t>1. Airport vs. Street Disparity: Airport readings (95°F) fail to warn residents in asphalt corridors experiencing 99.8°F.</a:t>
            </a:r>
          </a:p>
          <a:p>
            <a:r>
              <a:t>2. Transit Dependence: Over 47% of families in Sweet Auburn and Peoplestown do not own cars. Traditional 3-mile regional facilities leave them stranded.</a:t>
            </a:r>
          </a:p>
          <a:p>
            <a:r>
              <a:t>3. The Decision Scenario: Dana in the City Manager's Office has $1.2M capital funding and must deliver an unimpeachable council memo by 9:00 AM tomorrow.</a:t>
            </a:r>
          </a:p>
          <a:p>
            <a:r>
              <a:t>4. Societal Benefit: Grounding decisions in street-level data ensures public investments flow to historically disinvested, high-vulnerability neighborhoods.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52fa8b8a4798773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52fa8b8a4798773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SLIDE 5: OUR AGENT &amp; TANGIBLE OUTCOMES ===</a:t>
            </a:r>
          </a:p>
          <a:p/>
          <a:p>
            <a:r>
              <a:t>Live Demo Talking Points (0:20 - 1:40):</a:t>
            </a:r>
          </a:p>
          <a:p>
            <a:r>
              <a:t>1. Natural Language Interface: Planners talk in street names; the cognitive planner handles geocoding, BQML tool execution, and equity auditing.</a:t>
            </a:r>
          </a:p>
          <a:p>
            <a:r>
              <a:t>2. Pedestrian Isochrones: Blue 800-meter walk rings model true sidewalk accessibility rather than naive radial buffers.</a:t>
            </a:r>
          </a:p>
          <a:p>
            <a:r>
              <a:t>3. 100% Equity Compliance: Sweet Auburn, South Pryor, and Mechanicsville all exceed the 75th percentile city hardship cutoffs.</a:t>
            </a:r>
          </a:p>
          <a:p>
            <a:r>
              <a:t>4. Immediate Policy Adoption: 1-click Council Memo generator eliminates hours of administrative drafting ahead of tomorrow's 9 AM vote.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52fa8b8a4798773f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h52fa8b8a4798773f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SLIDE 6: DATA ECOSYSTEM &amp; ETHICAL RIGOR ===</a:t>
            </a:r>
          </a:p>
          <a:p/>
          <a:p>
            <a:r>
              <a:t>Technical Rigor &amp; Limitations (1:40 - 2:10):</a:t>
            </a:r>
          </a:p>
          <a:p>
            <a:r>
              <a:t>1. Offset vs Raw Temp: Predicting thermal offset isolates permanent urban fabric from day-to-day weather fluctuations.</a:t>
            </a:r>
          </a:p>
          <a:p>
            <a:r>
              <a:t>2. Bias Exclusion: Strict exclusion of race/ethnicity in training features prevents machine learning from codifying historical segregation.</a:t>
            </a:r>
          </a:p>
          <a:p>
            <a:r>
              <a:t>3. Honest Constraints: NOAA Heat Watch captures one representative summer day; multi-year variance requires longitudinal satellite calibration. We diagnose root causes (+2.4°F canopy deficit), but do not claim to simulate future tree growth without biological models.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52fa8b8a4798773f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52fa8b8a4798773f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 SLIDE 7: ARCHITECTURE TOUR &amp; 3-CLOCK OUTRO ===</a:t>
            </a:r>
          </a:p>
          <a:p/>
          <a:p>
            <a:r>
              <a:t>Architecture Tour (2:10 - 2:40):</a:t>
            </a:r>
          </a:p>
          <a:p>
            <a:r>
              <a:t>• Gemini 2.5 Flash on Vertex AI via Google ADK runtime.</a:t>
            </a:r>
          </a:p>
          <a:p>
            <a:r>
              <a:t>• BigQuery ML heat_offset_model running in Google Cloud data plane.</a:t>
            </a:r>
          </a:p>
          <a:p>
            <a:r>
              <a:t>• Serverless Cloud Run endpoint live at atlanta-heat-advisor-1004921377034.us-central1.run.app.</a:t>
            </a:r>
          </a:p>
          <a:p>
            <a:r>
              <a:t>• React 18 + Leaflet GIS dashboard with zero CORS errors via Vite proxy.</a:t>
            </a:r>
          </a:p>
          <a:p/>
          <a:p>
            <a:r>
              <a:t>20-Second Outro (2:40 - 3:00):</a:t>
            </a:r>
          </a:p>
          <a:p>
            <a:r>
              <a:t>"To wrap up: our advisor gives Atlanta leaders an actionable, defensible path across all three clocks. Tomorrow, emergency hydration vans to Sweet Auburn. This budget cycle, 42 MARTA transit shade structures. And this decade, urban canopy planting at the bottom 20% tracts. By connecting BigQuery ML with street-level walkability and an uncompromising equity audit, we ensure no neighborhood is left behind.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no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latin typeface="Google Sans Flex"/>
              <a:ea typeface="Google Sans Flex"/>
              <a:cs typeface="Google Sans Flex"/>
              <a:sym typeface="Google Sans Flex"/>
            </a:endParaRPr>
          </a:p>
        </p:txBody>
      </p:sp>
      <p:pic>
        <p:nvPicPr>
          <p:cNvPr id="11" name="Google Shape;11;p2" title="GC_Logo_Reverse_rgb.png"/>
          <p:cNvPicPr preferRelativeResize="0"/>
          <p:nvPr/>
        </p:nvPicPr>
        <p:blipFill>
          <a:blip r:embed="rId2">
            <a:alphaModFix/>
          </a:blip>
          <a:stretch>
            <a:fillRect/>
          </a:stretch>
        </p:blipFill>
        <p:spPr>
          <a:xfrm>
            <a:off x="242725" y="4857575"/>
            <a:ext cx="717373" cy="123650"/>
          </a:xfrm>
          <a:prstGeom prst="rect">
            <a:avLst/>
          </a:prstGeom>
          <a:noFill/>
          <a:ln>
            <a:noFill/>
          </a:ln>
        </p:spPr>
      </p:pic>
      <p:sp>
        <p:nvSpPr>
          <p:cNvPr id="12" name="Google Shape;12;p2"/>
          <p:cNvSpPr txBox="1"/>
          <p:nvPr/>
        </p:nvSpPr>
        <p:spPr>
          <a:xfrm>
            <a:off x="7146375" y="4792202"/>
            <a:ext cx="1641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Google Sans Flex"/>
                <a:ea typeface="Google Sans Flex"/>
                <a:cs typeface="Google Sans Flex"/>
                <a:sym typeface="Google Sans Flex"/>
              </a:rPr>
              <a:t>Proprietary &amp; Confidential</a:t>
            </a:r>
            <a:endParaRPr sz="600">
              <a:solidFill>
                <a:schemeClr val="lt1"/>
              </a:solidFill>
              <a:latin typeface="Google Sans Flex"/>
              <a:ea typeface="Google Sans Flex"/>
              <a:cs typeface="Google Sans Flex"/>
              <a:sym typeface="Google Sans Flex"/>
            </a:endParaRPr>
          </a:p>
        </p:txBody>
      </p:sp>
    </p:spTree>
  </p:cSld>
  <p:clrMapOvr>
    <a:masterClrMapping/>
  </p:clrMapOvr>
  <p:extLst>
    <p:ext uri="{DCECCB84-F9BA-43D5-87BE-67443E8EF086}">
      <p15:sldGuideLst>
        <p15:guide id="1" orient="horz" pos="3124">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2" name="Google Shape;52;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121317"/>
        </a:solidFill>
      </p:bgPr>
    </p:bg>
    <p:spTree>
      <p:nvGrpSpPr>
        <p:cNvPr id="56" name="Shape 56"/>
        <p:cNvGrpSpPr/>
        <p:nvPr/>
      </p:nvGrpSpPr>
      <p:grpSpPr>
        <a:xfrm>
          <a:off x="0" y="0"/>
          <a:ext cx="0" cy="0"/>
          <a:chOff x="0" y="0"/>
          <a:chExt cx="0" cy="0"/>
        </a:xfrm>
      </p:grpSpPr>
      <p:pic>
        <p:nvPicPr>
          <p:cNvPr id="57" name="Google Shape;57;p15" title="Asset 1@4x.png"/>
          <p:cNvPicPr preferRelativeResize="0"/>
          <p:nvPr/>
        </p:nvPicPr>
        <p:blipFill>
          <a:blip r:embed="rId2">
            <a:alphaModFix/>
          </a:blip>
          <a:stretch>
            <a:fillRect/>
          </a:stretch>
        </p:blipFill>
        <p:spPr>
          <a:xfrm>
            <a:off x="481200" y="1779099"/>
            <a:ext cx="2861000" cy="1890100"/>
          </a:xfrm>
          <a:prstGeom prst="rect">
            <a:avLst/>
          </a:prstGeom>
          <a:noFill/>
          <a:ln>
            <a:noFill/>
          </a:ln>
        </p:spPr>
      </p:pic>
    </p:spTree>
  </p:cSld>
  <p:clrMapOvr>
    <a:masterClrMapping/>
  </p:clrMapOvr>
  <p:extLst>
    <p:ext uri="{DCECCB84-F9BA-43D5-87BE-67443E8EF086}">
      <p15:sldGuideLst>
        <p15:guide id="1" orient="horz" pos="3124">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6"/>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lvl1pPr lvl="0">
              <a:buNone/>
              <a:defRPr sz="900">
                <a:solidFill>
                  <a:schemeClr val="lt1"/>
                </a:solidFill>
                <a:latin typeface="Google Sans Flex"/>
                <a:ea typeface="Google Sans Flex"/>
                <a:cs typeface="Google Sans Flex"/>
                <a:sym typeface="Google Sans Flex"/>
              </a:defRPr>
            </a:lvl1pPr>
            <a:lvl2pPr lvl="1">
              <a:buNone/>
              <a:defRPr sz="900">
                <a:solidFill>
                  <a:schemeClr val="lt1"/>
                </a:solidFill>
                <a:latin typeface="Google Sans Flex"/>
                <a:ea typeface="Google Sans Flex"/>
                <a:cs typeface="Google Sans Flex"/>
                <a:sym typeface="Google Sans Flex"/>
              </a:defRPr>
            </a:lvl2pPr>
            <a:lvl3pPr lvl="2">
              <a:buNone/>
              <a:defRPr sz="900">
                <a:solidFill>
                  <a:schemeClr val="lt1"/>
                </a:solidFill>
                <a:latin typeface="Google Sans Flex"/>
                <a:ea typeface="Google Sans Flex"/>
                <a:cs typeface="Google Sans Flex"/>
                <a:sym typeface="Google Sans Flex"/>
              </a:defRPr>
            </a:lvl3pPr>
            <a:lvl4pPr lvl="3">
              <a:buNone/>
              <a:defRPr sz="900">
                <a:solidFill>
                  <a:schemeClr val="lt1"/>
                </a:solidFill>
                <a:latin typeface="Google Sans Flex"/>
                <a:ea typeface="Google Sans Flex"/>
                <a:cs typeface="Google Sans Flex"/>
                <a:sym typeface="Google Sans Flex"/>
              </a:defRPr>
            </a:lvl4pPr>
            <a:lvl5pPr lvl="4">
              <a:buNone/>
              <a:defRPr sz="900">
                <a:solidFill>
                  <a:schemeClr val="lt1"/>
                </a:solidFill>
                <a:latin typeface="Google Sans Flex"/>
                <a:ea typeface="Google Sans Flex"/>
                <a:cs typeface="Google Sans Flex"/>
                <a:sym typeface="Google Sans Flex"/>
              </a:defRPr>
            </a:lvl5pPr>
            <a:lvl6pPr lvl="5">
              <a:buNone/>
              <a:defRPr sz="900">
                <a:solidFill>
                  <a:schemeClr val="lt1"/>
                </a:solidFill>
                <a:latin typeface="Google Sans Flex"/>
                <a:ea typeface="Google Sans Flex"/>
                <a:cs typeface="Google Sans Flex"/>
                <a:sym typeface="Google Sans Flex"/>
              </a:defRPr>
            </a:lvl6pPr>
            <a:lvl7pPr lvl="6">
              <a:buNone/>
              <a:defRPr sz="900">
                <a:solidFill>
                  <a:schemeClr val="lt1"/>
                </a:solidFill>
                <a:latin typeface="Google Sans Flex"/>
                <a:ea typeface="Google Sans Flex"/>
                <a:cs typeface="Google Sans Flex"/>
                <a:sym typeface="Google Sans Flex"/>
              </a:defRPr>
            </a:lvl7pPr>
            <a:lvl8pPr lvl="7">
              <a:buNone/>
              <a:defRPr sz="900">
                <a:solidFill>
                  <a:schemeClr val="lt1"/>
                </a:solidFill>
                <a:latin typeface="Google Sans Flex"/>
                <a:ea typeface="Google Sans Flex"/>
                <a:cs typeface="Google Sans Flex"/>
                <a:sym typeface="Google Sans Flex"/>
              </a:defRPr>
            </a:lvl8pPr>
            <a:lvl9pPr lvl="8">
              <a:buNone/>
              <a:defRPr sz="900">
                <a:solidFill>
                  <a:schemeClr val="lt1"/>
                </a:solidFill>
                <a:latin typeface="Google Sans Flex"/>
                <a:ea typeface="Google Sans Flex"/>
                <a:cs typeface="Google Sans Flex"/>
                <a:sym typeface="Google Sans Flex"/>
              </a:defRPr>
            </a:lvl9pPr>
          </a:lstStyle>
          <a:p>
            <a:pPr indent="0" lvl="0" marL="0" rtl="0" algn="r">
              <a:spcBef>
                <a:spcPts val="0"/>
              </a:spcBef>
              <a:spcAft>
                <a:spcPts val="0"/>
              </a:spcAft>
              <a:buNone/>
            </a:pPr>
            <a:fld id="{00000000-1234-1234-1234-123412341234}" type="slidenum">
              <a:rPr lang="en"/>
              <a:t>‹#›</a:t>
            </a:fld>
            <a:endParaRPr/>
          </a:p>
        </p:txBody>
      </p:sp>
      <p:pic>
        <p:nvPicPr>
          <p:cNvPr id="60" name="Google Shape;60;p16" title="GC_Logo_Reverse_rgb.png"/>
          <p:cNvPicPr preferRelativeResize="0"/>
          <p:nvPr/>
        </p:nvPicPr>
        <p:blipFill>
          <a:blip r:embed="rId2">
            <a:alphaModFix/>
          </a:blip>
          <a:stretch>
            <a:fillRect/>
          </a:stretch>
        </p:blipFill>
        <p:spPr>
          <a:xfrm>
            <a:off x="242725" y="4857575"/>
            <a:ext cx="717373" cy="123650"/>
          </a:xfrm>
          <a:prstGeom prst="rect">
            <a:avLst/>
          </a:prstGeom>
          <a:noFill/>
          <a:ln>
            <a:noFill/>
          </a:ln>
        </p:spPr>
      </p:pic>
      <p:sp>
        <p:nvSpPr>
          <p:cNvPr id="61" name="Google Shape;61;p16"/>
          <p:cNvSpPr txBox="1"/>
          <p:nvPr/>
        </p:nvSpPr>
        <p:spPr>
          <a:xfrm>
            <a:off x="7146375" y="4792202"/>
            <a:ext cx="1641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Google Sans Flex"/>
                <a:ea typeface="Google Sans Flex"/>
                <a:cs typeface="Google Sans Flex"/>
                <a:sym typeface="Google Sans Flex"/>
              </a:rPr>
              <a:t>Proprietary &amp; Confidential</a:t>
            </a:r>
            <a:endParaRPr sz="600">
              <a:solidFill>
                <a:schemeClr val="lt1"/>
              </a:solidFill>
              <a:latin typeface="Google Sans Flex"/>
              <a:ea typeface="Google Sans Flex"/>
              <a:cs typeface="Google Sans Flex"/>
              <a:sym typeface="Google Sans Flex"/>
            </a:endParaRPr>
          </a:p>
        </p:txBody>
      </p:sp>
      <p:pic>
        <p:nvPicPr>
          <p:cNvPr id="62" name="Google Shape;62;p16"/>
          <p:cNvPicPr preferRelativeResize="0"/>
          <p:nvPr/>
        </p:nvPicPr>
        <p:blipFill>
          <a:blip r:embed="rId3">
            <a:alphaModFix/>
          </a:blip>
          <a:stretch>
            <a:fillRect/>
          </a:stretch>
        </p:blipFill>
        <p:spPr>
          <a:xfrm>
            <a:off x="6436326" y="689350"/>
            <a:ext cx="2707675" cy="37647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7"/>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lvl1pPr lvl="0">
              <a:buNone/>
              <a:defRPr sz="900">
                <a:solidFill>
                  <a:schemeClr val="lt1"/>
                </a:solidFill>
                <a:latin typeface="Google Sans Flex"/>
                <a:ea typeface="Google Sans Flex"/>
                <a:cs typeface="Google Sans Flex"/>
                <a:sym typeface="Google Sans Flex"/>
              </a:defRPr>
            </a:lvl1pPr>
            <a:lvl2pPr lvl="1">
              <a:buNone/>
              <a:defRPr sz="900">
                <a:solidFill>
                  <a:schemeClr val="lt1"/>
                </a:solidFill>
                <a:latin typeface="Google Sans Flex"/>
                <a:ea typeface="Google Sans Flex"/>
                <a:cs typeface="Google Sans Flex"/>
                <a:sym typeface="Google Sans Flex"/>
              </a:defRPr>
            </a:lvl2pPr>
            <a:lvl3pPr lvl="2">
              <a:buNone/>
              <a:defRPr sz="900">
                <a:solidFill>
                  <a:schemeClr val="lt1"/>
                </a:solidFill>
                <a:latin typeface="Google Sans Flex"/>
                <a:ea typeface="Google Sans Flex"/>
                <a:cs typeface="Google Sans Flex"/>
                <a:sym typeface="Google Sans Flex"/>
              </a:defRPr>
            </a:lvl3pPr>
            <a:lvl4pPr lvl="3">
              <a:buNone/>
              <a:defRPr sz="900">
                <a:solidFill>
                  <a:schemeClr val="lt1"/>
                </a:solidFill>
                <a:latin typeface="Google Sans Flex"/>
                <a:ea typeface="Google Sans Flex"/>
                <a:cs typeface="Google Sans Flex"/>
                <a:sym typeface="Google Sans Flex"/>
              </a:defRPr>
            </a:lvl4pPr>
            <a:lvl5pPr lvl="4">
              <a:buNone/>
              <a:defRPr sz="900">
                <a:solidFill>
                  <a:schemeClr val="lt1"/>
                </a:solidFill>
                <a:latin typeface="Google Sans Flex"/>
                <a:ea typeface="Google Sans Flex"/>
                <a:cs typeface="Google Sans Flex"/>
                <a:sym typeface="Google Sans Flex"/>
              </a:defRPr>
            </a:lvl5pPr>
            <a:lvl6pPr lvl="5">
              <a:buNone/>
              <a:defRPr sz="900">
                <a:solidFill>
                  <a:schemeClr val="lt1"/>
                </a:solidFill>
                <a:latin typeface="Google Sans Flex"/>
                <a:ea typeface="Google Sans Flex"/>
                <a:cs typeface="Google Sans Flex"/>
                <a:sym typeface="Google Sans Flex"/>
              </a:defRPr>
            </a:lvl6pPr>
            <a:lvl7pPr lvl="6">
              <a:buNone/>
              <a:defRPr sz="900">
                <a:solidFill>
                  <a:schemeClr val="lt1"/>
                </a:solidFill>
                <a:latin typeface="Google Sans Flex"/>
                <a:ea typeface="Google Sans Flex"/>
                <a:cs typeface="Google Sans Flex"/>
                <a:sym typeface="Google Sans Flex"/>
              </a:defRPr>
            </a:lvl7pPr>
            <a:lvl8pPr lvl="7">
              <a:buNone/>
              <a:defRPr sz="900">
                <a:solidFill>
                  <a:schemeClr val="lt1"/>
                </a:solidFill>
                <a:latin typeface="Google Sans Flex"/>
                <a:ea typeface="Google Sans Flex"/>
                <a:cs typeface="Google Sans Flex"/>
                <a:sym typeface="Google Sans Flex"/>
              </a:defRPr>
            </a:lvl8pPr>
            <a:lvl9pPr lvl="8">
              <a:buNone/>
              <a:defRPr sz="900">
                <a:solidFill>
                  <a:schemeClr val="lt1"/>
                </a:solidFill>
                <a:latin typeface="Google Sans Flex"/>
                <a:ea typeface="Google Sans Flex"/>
                <a:cs typeface="Google Sans Flex"/>
                <a:sym typeface="Google Sans Flex"/>
              </a:defRPr>
            </a:lvl9pPr>
          </a:lstStyle>
          <a:p>
            <a:pPr indent="0" lvl="0" marL="0" rtl="0" algn="r">
              <a:spcBef>
                <a:spcPts val="0"/>
              </a:spcBef>
              <a:spcAft>
                <a:spcPts val="0"/>
              </a:spcAft>
              <a:buNone/>
            </a:pPr>
            <a:fld id="{00000000-1234-1234-1234-123412341234}" type="slidenum">
              <a:rPr lang="en"/>
              <a:t>‹#›</a:t>
            </a:fld>
            <a:endParaRPr/>
          </a:p>
        </p:txBody>
      </p:sp>
      <p:pic>
        <p:nvPicPr>
          <p:cNvPr id="65" name="Google Shape;65;p17" title="GC_Logo_Reverse_rgb.png"/>
          <p:cNvPicPr preferRelativeResize="0"/>
          <p:nvPr/>
        </p:nvPicPr>
        <p:blipFill>
          <a:blip r:embed="rId2">
            <a:alphaModFix/>
          </a:blip>
          <a:stretch>
            <a:fillRect/>
          </a:stretch>
        </p:blipFill>
        <p:spPr>
          <a:xfrm>
            <a:off x="242725" y="4857575"/>
            <a:ext cx="717373" cy="123650"/>
          </a:xfrm>
          <a:prstGeom prst="rect">
            <a:avLst/>
          </a:prstGeom>
          <a:noFill/>
          <a:ln>
            <a:noFill/>
          </a:ln>
        </p:spPr>
      </p:pic>
      <p:sp>
        <p:nvSpPr>
          <p:cNvPr id="66" name="Google Shape;66;p17"/>
          <p:cNvSpPr txBox="1"/>
          <p:nvPr/>
        </p:nvSpPr>
        <p:spPr>
          <a:xfrm>
            <a:off x="7146375" y="4792202"/>
            <a:ext cx="1641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Google Sans Flex"/>
                <a:ea typeface="Google Sans Flex"/>
                <a:cs typeface="Google Sans Flex"/>
                <a:sym typeface="Google Sans Flex"/>
              </a:rPr>
              <a:t>Proprietary &amp; Confidential</a:t>
            </a:r>
            <a:endParaRPr sz="600">
              <a:solidFill>
                <a:schemeClr val="lt1"/>
              </a:solidFill>
              <a:latin typeface="Google Sans Flex"/>
              <a:ea typeface="Google Sans Flex"/>
              <a:cs typeface="Google Sans Flex"/>
              <a:sym typeface="Google Sans Flex"/>
            </a:endParaRPr>
          </a:p>
        </p:txBody>
      </p:sp>
      <p:sp>
        <p:nvSpPr>
          <p:cNvPr id="67" name="Google Shape;67;p17"/>
          <p:cNvSpPr txBox="1"/>
          <p:nvPr/>
        </p:nvSpPr>
        <p:spPr>
          <a:xfrm>
            <a:off x="577750" y="514609"/>
            <a:ext cx="2837700" cy="768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4500">
                <a:solidFill>
                  <a:srgbClr val="F8F8F8"/>
                </a:solidFill>
                <a:latin typeface="Google Sans Flex Medium"/>
                <a:ea typeface="Google Sans Flex Medium"/>
                <a:cs typeface="Google Sans Flex Medium"/>
                <a:sym typeface="Google Sans Flex Medium"/>
              </a:rPr>
              <a:t>Our Team</a:t>
            </a:r>
            <a:endParaRPr sz="4500">
              <a:solidFill>
                <a:srgbClr val="F8F8F8"/>
              </a:solidFill>
              <a:latin typeface="Google Sans Flex Medium"/>
              <a:ea typeface="Google Sans Flex Medium"/>
              <a:cs typeface="Google Sans Flex Medium"/>
              <a:sym typeface="Google Sans Flex Medium"/>
            </a:endParaRPr>
          </a:p>
        </p:txBody>
      </p:sp>
    </p:spTree>
  </p:cSld>
  <p:clrMapOvr>
    <a:masterClrMapping/>
  </p:clrMapOvr>
  <p:extLst>
    <p:ext uri="{DCECCB84-F9BA-43D5-87BE-67443E8EF086}">
      <p15:sldGuideLst>
        <p15:guide id="1" orient="horz" pos="43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8"/>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lvl1pPr lvl="0">
              <a:buNone/>
              <a:defRPr sz="900">
                <a:solidFill>
                  <a:schemeClr val="lt1"/>
                </a:solidFill>
                <a:latin typeface="Google Sans Flex"/>
                <a:ea typeface="Google Sans Flex"/>
                <a:cs typeface="Google Sans Flex"/>
                <a:sym typeface="Google Sans Flex"/>
              </a:defRPr>
            </a:lvl1pPr>
            <a:lvl2pPr lvl="1">
              <a:buNone/>
              <a:defRPr sz="900">
                <a:solidFill>
                  <a:schemeClr val="lt1"/>
                </a:solidFill>
                <a:latin typeface="Google Sans Flex"/>
                <a:ea typeface="Google Sans Flex"/>
                <a:cs typeface="Google Sans Flex"/>
                <a:sym typeface="Google Sans Flex"/>
              </a:defRPr>
            </a:lvl2pPr>
            <a:lvl3pPr lvl="2">
              <a:buNone/>
              <a:defRPr sz="900">
                <a:solidFill>
                  <a:schemeClr val="lt1"/>
                </a:solidFill>
                <a:latin typeface="Google Sans Flex"/>
                <a:ea typeface="Google Sans Flex"/>
                <a:cs typeface="Google Sans Flex"/>
                <a:sym typeface="Google Sans Flex"/>
              </a:defRPr>
            </a:lvl3pPr>
            <a:lvl4pPr lvl="3">
              <a:buNone/>
              <a:defRPr sz="900">
                <a:solidFill>
                  <a:schemeClr val="lt1"/>
                </a:solidFill>
                <a:latin typeface="Google Sans Flex"/>
                <a:ea typeface="Google Sans Flex"/>
                <a:cs typeface="Google Sans Flex"/>
                <a:sym typeface="Google Sans Flex"/>
              </a:defRPr>
            </a:lvl4pPr>
            <a:lvl5pPr lvl="4">
              <a:buNone/>
              <a:defRPr sz="900">
                <a:solidFill>
                  <a:schemeClr val="lt1"/>
                </a:solidFill>
                <a:latin typeface="Google Sans Flex"/>
                <a:ea typeface="Google Sans Flex"/>
                <a:cs typeface="Google Sans Flex"/>
                <a:sym typeface="Google Sans Flex"/>
              </a:defRPr>
            </a:lvl5pPr>
            <a:lvl6pPr lvl="5">
              <a:buNone/>
              <a:defRPr sz="900">
                <a:solidFill>
                  <a:schemeClr val="lt1"/>
                </a:solidFill>
                <a:latin typeface="Google Sans Flex"/>
                <a:ea typeface="Google Sans Flex"/>
                <a:cs typeface="Google Sans Flex"/>
                <a:sym typeface="Google Sans Flex"/>
              </a:defRPr>
            </a:lvl6pPr>
            <a:lvl7pPr lvl="6">
              <a:buNone/>
              <a:defRPr sz="900">
                <a:solidFill>
                  <a:schemeClr val="lt1"/>
                </a:solidFill>
                <a:latin typeface="Google Sans Flex"/>
                <a:ea typeface="Google Sans Flex"/>
                <a:cs typeface="Google Sans Flex"/>
                <a:sym typeface="Google Sans Flex"/>
              </a:defRPr>
            </a:lvl7pPr>
            <a:lvl8pPr lvl="7">
              <a:buNone/>
              <a:defRPr sz="900">
                <a:solidFill>
                  <a:schemeClr val="lt1"/>
                </a:solidFill>
                <a:latin typeface="Google Sans Flex"/>
                <a:ea typeface="Google Sans Flex"/>
                <a:cs typeface="Google Sans Flex"/>
                <a:sym typeface="Google Sans Flex"/>
              </a:defRPr>
            </a:lvl8pPr>
            <a:lvl9pPr lvl="8">
              <a:buNone/>
              <a:defRPr sz="900">
                <a:solidFill>
                  <a:schemeClr val="lt1"/>
                </a:solidFill>
                <a:latin typeface="Google Sans Flex"/>
                <a:ea typeface="Google Sans Flex"/>
                <a:cs typeface="Google Sans Flex"/>
                <a:sym typeface="Google Sans Flex"/>
              </a:defRPr>
            </a:lvl9pPr>
          </a:lstStyle>
          <a:p>
            <a:pPr indent="0" lvl="0" marL="0" rtl="0" algn="r">
              <a:spcBef>
                <a:spcPts val="0"/>
              </a:spcBef>
              <a:spcAft>
                <a:spcPts val="0"/>
              </a:spcAft>
              <a:buNone/>
            </a:pPr>
            <a:fld id="{00000000-1234-1234-1234-123412341234}" type="slidenum">
              <a:rPr lang="en"/>
              <a:t>‹#›</a:t>
            </a:fld>
            <a:endParaRPr/>
          </a:p>
        </p:txBody>
      </p:sp>
      <p:pic>
        <p:nvPicPr>
          <p:cNvPr id="70" name="Google Shape;70;p18" title="GC_Logo_Reverse_rgb.png"/>
          <p:cNvPicPr preferRelativeResize="0"/>
          <p:nvPr/>
        </p:nvPicPr>
        <p:blipFill>
          <a:blip r:embed="rId2">
            <a:alphaModFix/>
          </a:blip>
          <a:stretch>
            <a:fillRect/>
          </a:stretch>
        </p:blipFill>
        <p:spPr>
          <a:xfrm>
            <a:off x="242725" y="4857575"/>
            <a:ext cx="717373" cy="123650"/>
          </a:xfrm>
          <a:prstGeom prst="rect">
            <a:avLst/>
          </a:prstGeom>
          <a:noFill/>
          <a:ln>
            <a:noFill/>
          </a:ln>
        </p:spPr>
      </p:pic>
      <p:sp>
        <p:nvSpPr>
          <p:cNvPr id="71" name="Google Shape;71;p18"/>
          <p:cNvSpPr txBox="1"/>
          <p:nvPr/>
        </p:nvSpPr>
        <p:spPr>
          <a:xfrm>
            <a:off x="7146375" y="4792202"/>
            <a:ext cx="1641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Google Sans Flex"/>
                <a:ea typeface="Google Sans Flex"/>
                <a:cs typeface="Google Sans Flex"/>
                <a:sym typeface="Google Sans Flex"/>
              </a:rPr>
              <a:t>Proprietary &amp; Confidential</a:t>
            </a:r>
            <a:endParaRPr sz="600">
              <a:solidFill>
                <a:schemeClr val="lt1"/>
              </a:solidFill>
              <a:latin typeface="Google Sans Flex"/>
              <a:ea typeface="Google Sans Flex"/>
              <a:cs typeface="Google Sans Flex"/>
              <a:sym typeface="Google Sans Flex"/>
            </a:endParaRPr>
          </a:p>
        </p:txBody>
      </p:sp>
      <p:sp>
        <p:nvSpPr>
          <p:cNvPr id="72" name="Google Shape;72;p18"/>
          <p:cNvSpPr txBox="1"/>
          <p:nvPr/>
        </p:nvSpPr>
        <p:spPr>
          <a:xfrm>
            <a:off x="2380650" y="654125"/>
            <a:ext cx="4382700" cy="16824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6000">
                <a:solidFill>
                  <a:srgbClr val="F8F8F8"/>
                </a:solidFill>
                <a:latin typeface="Google Sans Flex Medium"/>
                <a:ea typeface="Google Sans Flex Medium"/>
                <a:cs typeface="Google Sans Flex Medium"/>
                <a:sym typeface="Google Sans Flex Medium"/>
              </a:rPr>
              <a:t>Challenge</a:t>
            </a:r>
            <a:endParaRPr sz="6000">
              <a:solidFill>
                <a:srgbClr val="F8F8F8"/>
              </a:solidFill>
              <a:latin typeface="Google Sans Flex Medium"/>
              <a:ea typeface="Google Sans Flex Medium"/>
              <a:cs typeface="Google Sans Flex Medium"/>
              <a:sym typeface="Google Sans Flex Medium"/>
            </a:endParaRPr>
          </a:p>
          <a:p>
            <a:pPr indent="0" lvl="0" marL="0" rtl="0" algn="ctr">
              <a:lnSpc>
                <a:spcPct val="90000"/>
              </a:lnSpc>
              <a:spcBef>
                <a:spcPts val="0"/>
              </a:spcBef>
              <a:spcAft>
                <a:spcPts val="0"/>
              </a:spcAft>
              <a:buNone/>
            </a:pPr>
            <a:r>
              <a:rPr lang="en" sz="6000">
                <a:solidFill>
                  <a:srgbClr val="F8F8F8"/>
                </a:solidFill>
                <a:latin typeface="Google Sans Flex Medium"/>
                <a:ea typeface="Google Sans Flex Medium"/>
                <a:cs typeface="Google Sans Flex Medium"/>
                <a:sym typeface="Google Sans Flex Medium"/>
              </a:rPr>
              <a:t>Overview</a:t>
            </a:r>
            <a:endParaRPr sz="6000">
              <a:solidFill>
                <a:srgbClr val="F8F8F8"/>
              </a:solidFill>
              <a:latin typeface="Google Sans Flex Medium"/>
              <a:ea typeface="Google Sans Flex Medium"/>
              <a:cs typeface="Google Sans Flex Medium"/>
              <a:sym typeface="Google Sans Flex Medium"/>
            </a:endParaRPr>
          </a:p>
        </p:txBody>
      </p:sp>
    </p:spTree>
  </p:cSld>
  <p:clrMapOvr>
    <a:masterClrMapping/>
  </p:clrMapOvr>
  <p:extLst>
    <p:ext uri="{DCECCB84-F9BA-43D5-87BE-67443E8EF086}">
      <p15:sldGuideLst>
        <p15:guide id="1" orient="horz" pos="432">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9"/>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lvl1pPr lvl="0">
              <a:buNone/>
              <a:defRPr sz="900">
                <a:solidFill>
                  <a:schemeClr val="lt1"/>
                </a:solidFill>
                <a:latin typeface="Google Sans Flex"/>
                <a:ea typeface="Google Sans Flex"/>
                <a:cs typeface="Google Sans Flex"/>
                <a:sym typeface="Google Sans Flex"/>
              </a:defRPr>
            </a:lvl1pPr>
            <a:lvl2pPr lvl="1">
              <a:buNone/>
              <a:defRPr sz="900">
                <a:solidFill>
                  <a:schemeClr val="lt1"/>
                </a:solidFill>
                <a:latin typeface="Google Sans Flex"/>
                <a:ea typeface="Google Sans Flex"/>
                <a:cs typeface="Google Sans Flex"/>
                <a:sym typeface="Google Sans Flex"/>
              </a:defRPr>
            </a:lvl2pPr>
            <a:lvl3pPr lvl="2">
              <a:buNone/>
              <a:defRPr sz="900">
                <a:solidFill>
                  <a:schemeClr val="lt1"/>
                </a:solidFill>
                <a:latin typeface="Google Sans Flex"/>
                <a:ea typeface="Google Sans Flex"/>
                <a:cs typeface="Google Sans Flex"/>
                <a:sym typeface="Google Sans Flex"/>
              </a:defRPr>
            </a:lvl3pPr>
            <a:lvl4pPr lvl="3">
              <a:buNone/>
              <a:defRPr sz="900">
                <a:solidFill>
                  <a:schemeClr val="lt1"/>
                </a:solidFill>
                <a:latin typeface="Google Sans Flex"/>
                <a:ea typeface="Google Sans Flex"/>
                <a:cs typeface="Google Sans Flex"/>
                <a:sym typeface="Google Sans Flex"/>
              </a:defRPr>
            </a:lvl4pPr>
            <a:lvl5pPr lvl="4">
              <a:buNone/>
              <a:defRPr sz="900">
                <a:solidFill>
                  <a:schemeClr val="lt1"/>
                </a:solidFill>
                <a:latin typeface="Google Sans Flex"/>
                <a:ea typeface="Google Sans Flex"/>
                <a:cs typeface="Google Sans Flex"/>
                <a:sym typeface="Google Sans Flex"/>
              </a:defRPr>
            </a:lvl5pPr>
            <a:lvl6pPr lvl="5">
              <a:buNone/>
              <a:defRPr sz="900">
                <a:solidFill>
                  <a:schemeClr val="lt1"/>
                </a:solidFill>
                <a:latin typeface="Google Sans Flex"/>
                <a:ea typeface="Google Sans Flex"/>
                <a:cs typeface="Google Sans Flex"/>
                <a:sym typeface="Google Sans Flex"/>
              </a:defRPr>
            </a:lvl6pPr>
            <a:lvl7pPr lvl="6">
              <a:buNone/>
              <a:defRPr sz="900">
                <a:solidFill>
                  <a:schemeClr val="lt1"/>
                </a:solidFill>
                <a:latin typeface="Google Sans Flex"/>
                <a:ea typeface="Google Sans Flex"/>
                <a:cs typeface="Google Sans Flex"/>
                <a:sym typeface="Google Sans Flex"/>
              </a:defRPr>
            </a:lvl7pPr>
            <a:lvl8pPr lvl="7">
              <a:buNone/>
              <a:defRPr sz="900">
                <a:solidFill>
                  <a:schemeClr val="lt1"/>
                </a:solidFill>
                <a:latin typeface="Google Sans Flex"/>
                <a:ea typeface="Google Sans Flex"/>
                <a:cs typeface="Google Sans Flex"/>
                <a:sym typeface="Google Sans Flex"/>
              </a:defRPr>
            </a:lvl8pPr>
            <a:lvl9pPr lvl="8">
              <a:buNone/>
              <a:defRPr sz="900">
                <a:solidFill>
                  <a:schemeClr val="lt1"/>
                </a:solidFill>
                <a:latin typeface="Google Sans Flex"/>
                <a:ea typeface="Google Sans Flex"/>
                <a:cs typeface="Google Sans Flex"/>
                <a:sym typeface="Google Sans Flex"/>
              </a:defRPr>
            </a:lvl9pPr>
          </a:lstStyle>
          <a:p>
            <a:pPr indent="0" lvl="0" marL="0" rtl="0" algn="r">
              <a:spcBef>
                <a:spcPts val="0"/>
              </a:spcBef>
              <a:spcAft>
                <a:spcPts val="0"/>
              </a:spcAft>
              <a:buNone/>
            </a:pPr>
            <a:fld id="{00000000-1234-1234-1234-123412341234}" type="slidenum">
              <a:rPr lang="en"/>
              <a:t>‹#›</a:t>
            </a:fld>
            <a:endParaRPr/>
          </a:p>
        </p:txBody>
      </p:sp>
      <p:pic>
        <p:nvPicPr>
          <p:cNvPr id="75" name="Google Shape;75;p19" title="GC_Logo_Reverse_rgb.png"/>
          <p:cNvPicPr preferRelativeResize="0"/>
          <p:nvPr/>
        </p:nvPicPr>
        <p:blipFill>
          <a:blip r:embed="rId2">
            <a:alphaModFix/>
          </a:blip>
          <a:stretch>
            <a:fillRect/>
          </a:stretch>
        </p:blipFill>
        <p:spPr>
          <a:xfrm>
            <a:off x="242725" y="4857575"/>
            <a:ext cx="717373" cy="123650"/>
          </a:xfrm>
          <a:prstGeom prst="rect">
            <a:avLst/>
          </a:prstGeom>
          <a:noFill/>
          <a:ln>
            <a:noFill/>
          </a:ln>
        </p:spPr>
      </p:pic>
      <p:sp>
        <p:nvSpPr>
          <p:cNvPr id="76" name="Google Shape;76;p19"/>
          <p:cNvSpPr txBox="1"/>
          <p:nvPr/>
        </p:nvSpPr>
        <p:spPr>
          <a:xfrm>
            <a:off x="7146375" y="4792202"/>
            <a:ext cx="1641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Google Sans Flex"/>
                <a:ea typeface="Google Sans Flex"/>
                <a:cs typeface="Google Sans Flex"/>
                <a:sym typeface="Google Sans Flex"/>
              </a:rPr>
              <a:t>Proprietary &amp; Confidential</a:t>
            </a:r>
            <a:endParaRPr sz="600">
              <a:solidFill>
                <a:schemeClr val="lt1"/>
              </a:solidFill>
              <a:latin typeface="Google Sans Flex"/>
              <a:ea typeface="Google Sans Flex"/>
              <a:cs typeface="Google Sans Flex"/>
              <a:sym typeface="Google Sans Flex"/>
            </a:endParaRPr>
          </a:p>
        </p:txBody>
      </p:sp>
      <p:sp>
        <p:nvSpPr>
          <p:cNvPr id="77" name="Google Shape;77;p19"/>
          <p:cNvSpPr txBox="1"/>
          <p:nvPr/>
        </p:nvSpPr>
        <p:spPr>
          <a:xfrm>
            <a:off x="2380650" y="1111325"/>
            <a:ext cx="4382700" cy="16824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6000">
                <a:solidFill>
                  <a:srgbClr val="F8F8F8"/>
                </a:solidFill>
                <a:latin typeface="Google Sans Flex Medium"/>
                <a:ea typeface="Google Sans Flex Medium"/>
                <a:cs typeface="Google Sans Flex Medium"/>
                <a:sym typeface="Google Sans Flex Medium"/>
              </a:rPr>
              <a:t>Impact</a:t>
            </a:r>
            <a:endParaRPr sz="6000">
              <a:solidFill>
                <a:srgbClr val="F8F8F8"/>
              </a:solidFill>
              <a:latin typeface="Google Sans Flex Medium"/>
              <a:ea typeface="Google Sans Flex Medium"/>
              <a:cs typeface="Google Sans Flex Medium"/>
              <a:sym typeface="Google Sans Flex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lvl1pPr lvl="0">
              <a:buNone/>
              <a:defRPr sz="900">
                <a:solidFill>
                  <a:schemeClr val="lt1"/>
                </a:solidFill>
                <a:latin typeface="Google Sans Flex"/>
                <a:ea typeface="Google Sans Flex"/>
                <a:cs typeface="Google Sans Flex"/>
                <a:sym typeface="Google Sans Flex"/>
              </a:defRPr>
            </a:lvl1pPr>
            <a:lvl2pPr lvl="1">
              <a:buNone/>
              <a:defRPr sz="900">
                <a:solidFill>
                  <a:schemeClr val="lt1"/>
                </a:solidFill>
                <a:latin typeface="Google Sans Flex"/>
                <a:ea typeface="Google Sans Flex"/>
                <a:cs typeface="Google Sans Flex"/>
                <a:sym typeface="Google Sans Flex"/>
              </a:defRPr>
            </a:lvl2pPr>
            <a:lvl3pPr lvl="2">
              <a:buNone/>
              <a:defRPr sz="900">
                <a:solidFill>
                  <a:schemeClr val="lt1"/>
                </a:solidFill>
                <a:latin typeface="Google Sans Flex"/>
                <a:ea typeface="Google Sans Flex"/>
                <a:cs typeface="Google Sans Flex"/>
                <a:sym typeface="Google Sans Flex"/>
              </a:defRPr>
            </a:lvl3pPr>
            <a:lvl4pPr lvl="3">
              <a:buNone/>
              <a:defRPr sz="900">
                <a:solidFill>
                  <a:schemeClr val="lt1"/>
                </a:solidFill>
                <a:latin typeface="Google Sans Flex"/>
                <a:ea typeface="Google Sans Flex"/>
                <a:cs typeface="Google Sans Flex"/>
                <a:sym typeface="Google Sans Flex"/>
              </a:defRPr>
            </a:lvl4pPr>
            <a:lvl5pPr lvl="4">
              <a:buNone/>
              <a:defRPr sz="900">
                <a:solidFill>
                  <a:schemeClr val="lt1"/>
                </a:solidFill>
                <a:latin typeface="Google Sans Flex"/>
                <a:ea typeface="Google Sans Flex"/>
                <a:cs typeface="Google Sans Flex"/>
                <a:sym typeface="Google Sans Flex"/>
              </a:defRPr>
            </a:lvl5pPr>
            <a:lvl6pPr lvl="5">
              <a:buNone/>
              <a:defRPr sz="900">
                <a:solidFill>
                  <a:schemeClr val="lt1"/>
                </a:solidFill>
                <a:latin typeface="Google Sans Flex"/>
                <a:ea typeface="Google Sans Flex"/>
                <a:cs typeface="Google Sans Flex"/>
                <a:sym typeface="Google Sans Flex"/>
              </a:defRPr>
            </a:lvl6pPr>
            <a:lvl7pPr lvl="6">
              <a:buNone/>
              <a:defRPr sz="900">
                <a:solidFill>
                  <a:schemeClr val="lt1"/>
                </a:solidFill>
                <a:latin typeface="Google Sans Flex"/>
                <a:ea typeface="Google Sans Flex"/>
                <a:cs typeface="Google Sans Flex"/>
                <a:sym typeface="Google Sans Flex"/>
              </a:defRPr>
            </a:lvl7pPr>
            <a:lvl8pPr lvl="7">
              <a:buNone/>
              <a:defRPr sz="900">
                <a:solidFill>
                  <a:schemeClr val="lt1"/>
                </a:solidFill>
                <a:latin typeface="Google Sans Flex"/>
                <a:ea typeface="Google Sans Flex"/>
                <a:cs typeface="Google Sans Flex"/>
                <a:sym typeface="Google Sans Flex"/>
              </a:defRPr>
            </a:lvl8pPr>
            <a:lvl9pPr lvl="8">
              <a:buNone/>
              <a:defRPr sz="900">
                <a:solidFill>
                  <a:schemeClr val="lt1"/>
                </a:solidFill>
                <a:latin typeface="Google Sans Flex"/>
                <a:ea typeface="Google Sans Flex"/>
                <a:cs typeface="Google Sans Flex"/>
                <a:sym typeface="Google Sans Flex"/>
              </a:defRPr>
            </a:lvl9pPr>
          </a:lstStyle>
          <a:p>
            <a:pPr indent="0" lvl="0" marL="0" rtl="0" algn="r">
              <a:spcBef>
                <a:spcPts val="0"/>
              </a:spcBef>
              <a:spcAft>
                <a:spcPts val="0"/>
              </a:spcAft>
              <a:buNone/>
            </a:pPr>
            <a:fld id="{00000000-1234-1234-1234-123412341234}" type="slidenum">
              <a:rPr lang="en"/>
              <a:t>‹#›</a:t>
            </a:fld>
            <a:endParaRPr/>
          </a:p>
        </p:txBody>
      </p:sp>
      <p:pic>
        <p:nvPicPr>
          <p:cNvPr id="80" name="Google Shape;80;p20" title="GC_Logo_Reverse_rgb.png"/>
          <p:cNvPicPr preferRelativeResize="0"/>
          <p:nvPr/>
        </p:nvPicPr>
        <p:blipFill>
          <a:blip r:embed="rId2">
            <a:alphaModFix/>
          </a:blip>
          <a:stretch>
            <a:fillRect/>
          </a:stretch>
        </p:blipFill>
        <p:spPr>
          <a:xfrm>
            <a:off x="242725" y="4857575"/>
            <a:ext cx="717373" cy="123650"/>
          </a:xfrm>
          <a:prstGeom prst="rect">
            <a:avLst/>
          </a:prstGeom>
          <a:noFill/>
          <a:ln>
            <a:noFill/>
          </a:ln>
        </p:spPr>
      </p:pic>
      <p:sp>
        <p:nvSpPr>
          <p:cNvPr id="81" name="Google Shape;81;p20"/>
          <p:cNvSpPr txBox="1"/>
          <p:nvPr/>
        </p:nvSpPr>
        <p:spPr>
          <a:xfrm>
            <a:off x="7146375" y="4792202"/>
            <a:ext cx="1641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Google Sans Flex"/>
                <a:ea typeface="Google Sans Flex"/>
                <a:cs typeface="Google Sans Flex"/>
                <a:sym typeface="Google Sans Flex"/>
              </a:rPr>
              <a:t>Proprietary &amp; Confidential</a:t>
            </a:r>
            <a:endParaRPr sz="600">
              <a:solidFill>
                <a:schemeClr val="lt1"/>
              </a:solidFill>
              <a:latin typeface="Google Sans Flex"/>
              <a:ea typeface="Google Sans Flex"/>
              <a:cs typeface="Google Sans Flex"/>
              <a:sym typeface="Google Sans Flex"/>
            </a:endParaRPr>
          </a:p>
        </p:txBody>
      </p:sp>
      <p:sp>
        <p:nvSpPr>
          <p:cNvPr id="82" name="Google Shape;82;p20"/>
          <p:cNvSpPr txBox="1"/>
          <p:nvPr/>
        </p:nvSpPr>
        <p:spPr>
          <a:xfrm>
            <a:off x="-207025" y="490822"/>
            <a:ext cx="4382700" cy="10086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6000">
                <a:solidFill>
                  <a:srgbClr val="F8F8F8"/>
                </a:solidFill>
                <a:latin typeface="Google Sans Flex Medium"/>
                <a:ea typeface="Google Sans Flex Medium"/>
                <a:cs typeface="Google Sans Flex Medium"/>
                <a:sym typeface="Google Sans Flex Medium"/>
              </a:rPr>
              <a:t>Sources</a:t>
            </a:r>
            <a:endParaRPr sz="6000">
              <a:solidFill>
                <a:srgbClr val="F8F8F8"/>
              </a:solidFill>
              <a:latin typeface="Google Sans Flex Medium"/>
              <a:ea typeface="Google Sans Flex Medium"/>
              <a:cs typeface="Google Sans Flex Medium"/>
              <a:sym typeface="Google Sans Flex Medium"/>
            </a:endParaRPr>
          </a:p>
        </p:txBody>
      </p:sp>
    </p:spTree>
  </p:cSld>
  <p:clrMapOvr>
    <a:masterClrMapping/>
  </p:clrMapOvr>
  <p:extLst>
    <p:ext uri="{DCECCB84-F9BA-43D5-87BE-67443E8EF086}">
      <p15:sldGuideLst>
        <p15:guide id="1" orient="horz" pos="432">
          <p15:clr>
            <a:srgbClr val="E46962"/>
          </p15:clr>
        </p15:guide>
        <p15:guide id="2" pos="379">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21"/>
          <p:cNvSpPr txBox="1"/>
          <p:nvPr/>
        </p:nvSpPr>
        <p:spPr>
          <a:xfrm>
            <a:off x="918646" y="662463"/>
            <a:ext cx="2679600" cy="10086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3000">
                <a:solidFill>
                  <a:srgbClr val="F8F8F8"/>
                </a:solidFill>
                <a:latin typeface="Google Sans Flex Medium"/>
                <a:ea typeface="Google Sans Flex Medium"/>
                <a:cs typeface="Google Sans Flex Medium"/>
                <a:sym typeface="Google Sans Flex Medium"/>
              </a:rPr>
              <a:t>Prototype</a:t>
            </a:r>
            <a:endParaRPr sz="3000">
              <a:solidFill>
                <a:srgbClr val="F8F8F8"/>
              </a:solidFill>
              <a:latin typeface="Google Sans Flex Medium"/>
              <a:ea typeface="Google Sans Flex Medium"/>
              <a:cs typeface="Google Sans Flex Medium"/>
              <a:sym typeface="Google Sans Flex Medium"/>
            </a:endParaRPr>
          </a:p>
          <a:p>
            <a:pPr indent="0" lvl="0" marL="0" rtl="0" algn="l">
              <a:lnSpc>
                <a:spcPct val="90000"/>
              </a:lnSpc>
              <a:spcBef>
                <a:spcPts val="0"/>
              </a:spcBef>
              <a:spcAft>
                <a:spcPts val="0"/>
              </a:spcAft>
              <a:buNone/>
            </a:pPr>
            <a:r>
              <a:rPr lang="en" sz="3000">
                <a:solidFill>
                  <a:srgbClr val="F8F8F8"/>
                </a:solidFill>
                <a:latin typeface="Google Sans Flex Medium"/>
                <a:ea typeface="Google Sans Flex Medium"/>
                <a:cs typeface="Google Sans Flex Medium"/>
                <a:sym typeface="Google Sans Flex Medium"/>
              </a:rPr>
              <a:t>   Architecture</a:t>
            </a:r>
            <a:endParaRPr sz="3000">
              <a:solidFill>
                <a:srgbClr val="F8F8F8"/>
              </a:solidFill>
              <a:latin typeface="Google Sans Flex Medium"/>
              <a:ea typeface="Google Sans Flex Medium"/>
              <a:cs typeface="Google Sans Flex Medium"/>
              <a:sym typeface="Google Sans Flex Medium"/>
            </a:endParaRPr>
          </a:p>
        </p:txBody>
      </p:sp>
      <p:sp>
        <p:nvSpPr>
          <p:cNvPr id="85" name="Google Shape;85;p21"/>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lvl1pPr lvl="0">
              <a:buNone/>
              <a:defRPr sz="900">
                <a:solidFill>
                  <a:schemeClr val="lt1"/>
                </a:solidFill>
                <a:latin typeface="Google Sans Flex"/>
                <a:ea typeface="Google Sans Flex"/>
                <a:cs typeface="Google Sans Flex"/>
                <a:sym typeface="Google Sans Flex"/>
              </a:defRPr>
            </a:lvl1pPr>
            <a:lvl2pPr lvl="1">
              <a:buNone/>
              <a:defRPr sz="900">
                <a:solidFill>
                  <a:schemeClr val="lt1"/>
                </a:solidFill>
                <a:latin typeface="Google Sans Flex"/>
                <a:ea typeface="Google Sans Flex"/>
                <a:cs typeface="Google Sans Flex"/>
                <a:sym typeface="Google Sans Flex"/>
              </a:defRPr>
            </a:lvl2pPr>
            <a:lvl3pPr lvl="2">
              <a:buNone/>
              <a:defRPr sz="900">
                <a:solidFill>
                  <a:schemeClr val="lt1"/>
                </a:solidFill>
                <a:latin typeface="Google Sans Flex"/>
                <a:ea typeface="Google Sans Flex"/>
                <a:cs typeface="Google Sans Flex"/>
                <a:sym typeface="Google Sans Flex"/>
              </a:defRPr>
            </a:lvl3pPr>
            <a:lvl4pPr lvl="3">
              <a:buNone/>
              <a:defRPr sz="900">
                <a:solidFill>
                  <a:schemeClr val="lt1"/>
                </a:solidFill>
                <a:latin typeface="Google Sans Flex"/>
                <a:ea typeface="Google Sans Flex"/>
                <a:cs typeface="Google Sans Flex"/>
                <a:sym typeface="Google Sans Flex"/>
              </a:defRPr>
            </a:lvl4pPr>
            <a:lvl5pPr lvl="4">
              <a:buNone/>
              <a:defRPr sz="900">
                <a:solidFill>
                  <a:schemeClr val="lt1"/>
                </a:solidFill>
                <a:latin typeface="Google Sans Flex"/>
                <a:ea typeface="Google Sans Flex"/>
                <a:cs typeface="Google Sans Flex"/>
                <a:sym typeface="Google Sans Flex"/>
              </a:defRPr>
            </a:lvl5pPr>
            <a:lvl6pPr lvl="5">
              <a:buNone/>
              <a:defRPr sz="900">
                <a:solidFill>
                  <a:schemeClr val="lt1"/>
                </a:solidFill>
                <a:latin typeface="Google Sans Flex"/>
                <a:ea typeface="Google Sans Flex"/>
                <a:cs typeface="Google Sans Flex"/>
                <a:sym typeface="Google Sans Flex"/>
              </a:defRPr>
            </a:lvl6pPr>
            <a:lvl7pPr lvl="6">
              <a:buNone/>
              <a:defRPr sz="900">
                <a:solidFill>
                  <a:schemeClr val="lt1"/>
                </a:solidFill>
                <a:latin typeface="Google Sans Flex"/>
                <a:ea typeface="Google Sans Flex"/>
                <a:cs typeface="Google Sans Flex"/>
                <a:sym typeface="Google Sans Flex"/>
              </a:defRPr>
            </a:lvl7pPr>
            <a:lvl8pPr lvl="7">
              <a:buNone/>
              <a:defRPr sz="900">
                <a:solidFill>
                  <a:schemeClr val="lt1"/>
                </a:solidFill>
                <a:latin typeface="Google Sans Flex"/>
                <a:ea typeface="Google Sans Flex"/>
                <a:cs typeface="Google Sans Flex"/>
                <a:sym typeface="Google Sans Flex"/>
              </a:defRPr>
            </a:lvl8pPr>
            <a:lvl9pPr lvl="8">
              <a:buNone/>
              <a:defRPr sz="900">
                <a:solidFill>
                  <a:schemeClr val="lt1"/>
                </a:solidFill>
                <a:latin typeface="Google Sans Flex"/>
                <a:ea typeface="Google Sans Flex"/>
                <a:cs typeface="Google Sans Flex"/>
                <a:sym typeface="Google Sans Flex"/>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1" title="GC_Logo_Reverse_rgb.png"/>
          <p:cNvPicPr preferRelativeResize="0"/>
          <p:nvPr/>
        </p:nvPicPr>
        <p:blipFill>
          <a:blip r:embed="rId2">
            <a:alphaModFix/>
          </a:blip>
          <a:stretch>
            <a:fillRect/>
          </a:stretch>
        </p:blipFill>
        <p:spPr>
          <a:xfrm>
            <a:off x="242725" y="4857575"/>
            <a:ext cx="717373" cy="123650"/>
          </a:xfrm>
          <a:prstGeom prst="rect">
            <a:avLst/>
          </a:prstGeom>
          <a:noFill/>
          <a:ln>
            <a:noFill/>
          </a:ln>
        </p:spPr>
      </p:pic>
      <p:sp>
        <p:nvSpPr>
          <p:cNvPr id="87" name="Google Shape;87;p21"/>
          <p:cNvSpPr txBox="1"/>
          <p:nvPr/>
        </p:nvSpPr>
        <p:spPr>
          <a:xfrm>
            <a:off x="7146375" y="4792202"/>
            <a:ext cx="1641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Google Sans Flex"/>
                <a:ea typeface="Google Sans Flex"/>
                <a:cs typeface="Google Sans Flex"/>
                <a:sym typeface="Google Sans Flex"/>
              </a:rPr>
              <a:t>Proprietary &amp; Confidential</a:t>
            </a:r>
            <a:endParaRPr sz="600">
              <a:solidFill>
                <a:schemeClr val="lt1"/>
              </a:solidFill>
              <a:latin typeface="Google Sans Flex"/>
              <a:ea typeface="Google Sans Flex"/>
              <a:cs typeface="Google Sans Flex"/>
              <a:sym typeface="Google Sans Flex"/>
            </a:endParaRPr>
          </a:p>
        </p:txBody>
      </p:sp>
    </p:spTree>
  </p:cSld>
  <p:clrMapOvr>
    <a:masterClrMapping/>
  </p:clrMapOvr>
  <p:extLst>
    <p:ext uri="{DCECCB84-F9BA-43D5-87BE-67443E8EF086}">
      <p15:sldGuideLst>
        <p15:guide id="1" orient="horz" pos="432">
          <p15:clr>
            <a:srgbClr val="E46962"/>
          </p15:clr>
        </p15:guide>
        <p15:guide id="2" pos="379">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91" name="Google Shape;91;p22"/>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2" name="Google Shape;92;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3" name="Google Shape;9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96" name="Google Shape;96;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99" name="Google Shape;99;p24"/>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0" name="Google Shape;10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03" name="Shape 103"/>
        <p:cNvGrpSpPr/>
        <p:nvPr/>
      </p:nvGrpSpPr>
      <p:grpSpPr>
        <a:xfrm>
          <a:off x="0" y="0"/>
          <a:ext cx="0" cy="0"/>
          <a:chOff x="0" y="0"/>
          <a:chExt cx="0" cy="0"/>
        </a:xfrm>
      </p:grpSpPr>
      <p:sp>
        <p:nvSpPr>
          <p:cNvPr id="104" name="Google Shape;104;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05" name="Google Shape;105;p26"/>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121317"/>
        </a:solidFill>
      </p:bgPr>
    </p:bg>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21317"/>
        </a:solidFill>
      </p:bgPr>
    </p:bg>
    <p:spTree>
      <p:nvGrpSpPr>
        <p:cNvPr id="110" name="Shape 110"/>
        <p:cNvGrpSpPr/>
        <p:nvPr/>
      </p:nvGrpSpPr>
      <p:grpSpPr>
        <a:xfrm>
          <a:off x="0" y="0"/>
          <a:ext cx="0" cy="0"/>
          <a:chOff x="0" y="0"/>
          <a:chExt cx="0" cy="0"/>
        </a:xfrm>
      </p:grpSpPr>
      <p:sp>
        <p:nvSpPr>
          <p:cNvPr id="111" name="Google Shape;111;p27"/>
          <p:cNvSpPr txBox="1"/>
          <p:nvPr/>
        </p:nvSpPr>
        <p:spPr>
          <a:xfrm>
            <a:off x="577752" y="405687"/>
            <a:ext cx="4382700" cy="1277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4500">
                <a:solidFill>
                  <a:srgbClr val="F8F8F8"/>
                </a:solidFill>
                <a:latin typeface="Google Sans Flex Medium"/>
                <a:ea typeface="Google Sans Flex Medium"/>
                <a:cs typeface="Google Sans Flex Medium"/>
                <a:sym typeface="Google Sans Flex Medium"/>
              </a:rPr>
              <a:t>Instructions</a:t>
            </a:r>
            <a:endParaRPr sz="4500">
              <a:solidFill>
                <a:srgbClr val="F8F8F8"/>
              </a:solidFill>
              <a:latin typeface="Google Sans Flex Medium"/>
              <a:ea typeface="Google Sans Flex Medium"/>
              <a:cs typeface="Google Sans Flex Medium"/>
              <a:sym typeface="Google Sans Flex Medium"/>
            </a:endParaRPr>
          </a:p>
        </p:txBody>
      </p:sp>
      <p:pic>
        <p:nvPicPr>
          <p:cNvPr id="112" name="Google Shape;112;p27"/>
          <p:cNvPicPr preferRelativeResize="0"/>
          <p:nvPr/>
        </p:nvPicPr>
        <p:blipFill>
          <a:blip r:embed="rId3">
            <a:alphaModFix/>
          </a:blip>
          <a:stretch>
            <a:fillRect/>
          </a:stretch>
        </p:blipFill>
        <p:spPr>
          <a:xfrm>
            <a:off x="6436326" y="689350"/>
            <a:ext cx="2707675" cy="3764775"/>
          </a:xfrm>
          <a:prstGeom prst="rect">
            <a:avLst/>
          </a:prstGeom>
          <a:noFill/>
          <a:ln>
            <a:noFill/>
          </a:ln>
        </p:spPr>
      </p:pic>
      <p:sp>
        <p:nvSpPr>
          <p:cNvPr id="113" name="Google Shape;113;p27"/>
          <p:cNvSpPr txBox="1"/>
          <p:nvPr>
            <p:ph idx="12" type="sldNum"/>
          </p:nvPr>
        </p:nvSpPr>
        <p:spPr>
          <a:xfrm>
            <a:off x="8365633" y="473065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800">
                <a:latin typeface="Google Sans Flex"/>
                <a:ea typeface="Google Sans Flex"/>
                <a:cs typeface="Google Sans Flex"/>
                <a:sym typeface="Google Sans Flex"/>
              </a:rPr>
              <a:t>‹#›</a:t>
            </a:fld>
            <a:endParaRPr sz="800">
              <a:latin typeface="Google Sans Flex"/>
              <a:ea typeface="Google Sans Flex"/>
              <a:cs typeface="Google Sans Flex"/>
              <a:sym typeface="Google Sans Flex"/>
            </a:endParaRPr>
          </a:p>
        </p:txBody>
      </p:sp>
      <p:sp>
        <p:nvSpPr>
          <p:cNvPr id="114" name="Google Shape;114;p27"/>
          <p:cNvSpPr txBox="1"/>
          <p:nvPr/>
        </p:nvSpPr>
        <p:spPr>
          <a:xfrm>
            <a:off x="577750" y="1305100"/>
            <a:ext cx="5333400" cy="3270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lt1"/>
              </a:buClr>
              <a:buSzPts val="1500"/>
              <a:buFont typeface="Google Sans Flex"/>
              <a:buAutoNum type="arabicPeriod"/>
            </a:pPr>
            <a:r>
              <a:rPr lang="en" sz="1500">
                <a:solidFill>
                  <a:schemeClr val="lt1"/>
                </a:solidFill>
                <a:latin typeface="Google Sans Flex"/>
                <a:ea typeface="Google Sans Flex"/>
                <a:cs typeface="Google Sans Flex"/>
                <a:sym typeface="Google Sans Flex"/>
              </a:rPr>
              <a:t>Use this slide template as the pitch deck you will submit, please </a:t>
            </a:r>
            <a:r>
              <a:rPr b="1" lang="en" sz="1500">
                <a:solidFill>
                  <a:schemeClr val="lt1"/>
                </a:solidFill>
                <a:latin typeface="Google Sans Flex"/>
                <a:ea typeface="Google Sans Flex"/>
                <a:cs typeface="Google Sans Flex"/>
                <a:sym typeface="Google Sans Flex"/>
              </a:rPr>
              <a:t>do NOT</a:t>
            </a:r>
            <a:r>
              <a:rPr lang="en" sz="1500">
                <a:solidFill>
                  <a:schemeClr val="lt1"/>
                </a:solidFill>
                <a:latin typeface="Google Sans Flex"/>
                <a:ea typeface="Google Sans Flex"/>
                <a:cs typeface="Google Sans Flex"/>
                <a:sym typeface="Google Sans Flex"/>
              </a:rPr>
              <a:t> add any </a:t>
            </a:r>
            <a:r>
              <a:rPr lang="en" sz="1500">
                <a:solidFill>
                  <a:schemeClr val="lt1"/>
                </a:solidFill>
                <a:latin typeface="Google Sans Flex"/>
                <a:ea typeface="Google Sans Flex"/>
                <a:cs typeface="Google Sans Flex"/>
                <a:sym typeface="Google Sans Flex"/>
              </a:rPr>
              <a:t>additional slides. Any additional slides may not be reviewed as part of your submission. You should have</a:t>
            </a:r>
            <a:r>
              <a:rPr b="1" lang="en" sz="1500">
                <a:solidFill>
                  <a:schemeClr val="lt1"/>
                </a:solidFill>
                <a:latin typeface="Google Sans Flex"/>
                <a:ea typeface="Google Sans Flex"/>
                <a:cs typeface="Google Sans Flex"/>
                <a:sym typeface="Google Sans Flex"/>
              </a:rPr>
              <a:t> 6 slides total.</a:t>
            </a:r>
            <a:r>
              <a:rPr lang="en" sz="1500">
                <a:solidFill>
                  <a:schemeClr val="lt1"/>
                </a:solidFill>
                <a:latin typeface="Google Sans Flex"/>
                <a:ea typeface="Google Sans Flex"/>
                <a:cs typeface="Google Sans Flex"/>
                <a:sym typeface="Google Sans Flex"/>
              </a:rPr>
              <a:t> </a:t>
            </a:r>
            <a:endParaRPr sz="1500">
              <a:solidFill>
                <a:schemeClr val="lt1"/>
              </a:solidFill>
              <a:latin typeface="Google Sans Flex"/>
              <a:ea typeface="Google Sans Flex"/>
              <a:cs typeface="Google Sans Flex"/>
              <a:sym typeface="Google Sans Flex"/>
            </a:endParaRPr>
          </a:p>
          <a:p>
            <a:pPr indent="-323850" lvl="0" marL="457200" rtl="0" algn="l">
              <a:lnSpc>
                <a:spcPct val="115000"/>
              </a:lnSpc>
              <a:spcBef>
                <a:spcPts val="0"/>
              </a:spcBef>
              <a:spcAft>
                <a:spcPts val="0"/>
              </a:spcAft>
              <a:buClr>
                <a:schemeClr val="lt1"/>
              </a:buClr>
              <a:buSzPts val="1500"/>
              <a:buFont typeface="Google Sans Flex"/>
              <a:buAutoNum type="arabicPeriod"/>
            </a:pPr>
            <a:r>
              <a:rPr lang="en" sz="1500">
                <a:solidFill>
                  <a:schemeClr val="lt1"/>
                </a:solidFill>
                <a:latin typeface="Google Sans Flex"/>
                <a:ea typeface="Google Sans Flex"/>
                <a:cs typeface="Google Sans Flex"/>
                <a:sym typeface="Google Sans Flex"/>
              </a:rPr>
              <a:t>The “Our Team” slide, slide 3, needs to be completely filled out.</a:t>
            </a:r>
            <a:endParaRPr sz="1500">
              <a:solidFill>
                <a:schemeClr val="lt1"/>
              </a:solidFill>
              <a:latin typeface="Google Sans Flex"/>
              <a:ea typeface="Google Sans Flex"/>
              <a:cs typeface="Google Sans Flex"/>
              <a:sym typeface="Google Sans Flex"/>
            </a:endParaRPr>
          </a:p>
          <a:p>
            <a:pPr indent="-323850" lvl="0" marL="457200" rtl="0" algn="l">
              <a:lnSpc>
                <a:spcPct val="115000"/>
              </a:lnSpc>
              <a:spcBef>
                <a:spcPts val="0"/>
              </a:spcBef>
              <a:spcAft>
                <a:spcPts val="0"/>
              </a:spcAft>
              <a:buClr>
                <a:schemeClr val="lt1"/>
              </a:buClr>
              <a:buSzPts val="1500"/>
              <a:buFont typeface="Google Sans Flex"/>
              <a:buAutoNum type="arabicPeriod"/>
            </a:pPr>
            <a:r>
              <a:rPr lang="en" sz="1500">
                <a:solidFill>
                  <a:schemeClr val="lt1"/>
                </a:solidFill>
                <a:latin typeface="Google Sans Flex"/>
                <a:ea typeface="Google Sans Flex"/>
                <a:cs typeface="Google Sans Flex"/>
                <a:sym typeface="Google Sans Flex"/>
              </a:rPr>
              <a:t>Reminder- you must also </a:t>
            </a:r>
            <a:r>
              <a:rPr lang="en" sz="1500">
                <a:solidFill>
                  <a:schemeClr val="lt1"/>
                </a:solidFill>
                <a:latin typeface="Google Sans Flex"/>
                <a:ea typeface="Google Sans Flex"/>
                <a:cs typeface="Google Sans Flex"/>
                <a:sym typeface="Google Sans Flex"/>
              </a:rPr>
              <a:t>submit: </a:t>
            </a:r>
            <a:endParaRPr sz="1500">
              <a:solidFill>
                <a:schemeClr val="lt1"/>
              </a:solidFill>
              <a:latin typeface="Google Sans Flex"/>
              <a:ea typeface="Google Sans Flex"/>
              <a:cs typeface="Google Sans Flex"/>
              <a:sym typeface="Google Sans Flex"/>
            </a:endParaRPr>
          </a:p>
          <a:p>
            <a:pPr indent="-317500" lvl="1" marL="914400" rtl="0" algn="l">
              <a:spcBef>
                <a:spcPts val="0"/>
              </a:spcBef>
              <a:spcAft>
                <a:spcPts val="0"/>
              </a:spcAft>
              <a:buClr>
                <a:schemeClr val="lt1"/>
              </a:buClr>
              <a:buSzPts val="1400"/>
              <a:buFont typeface="Google Sans"/>
              <a:buAutoNum type="alphaLcPeriod"/>
            </a:pPr>
            <a:r>
              <a:rPr lang="en">
                <a:solidFill>
                  <a:schemeClr val="lt1"/>
                </a:solidFill>
                <a:latin typeface="Google Sans"/>
                <a:ea typeface="Google Sans"/>
                <a:cs typeface="Google Sans"/>
                <a:sym typeface="Google Sans"/>
              </a:rPr>
              <a:t>Your squad environment link </a:t>
            </a:r>
            <a:endParaRPr>
              <a:solidFill>
                <a:schemeClr val="lt1"/>
              </a:solidFill>
              <a:latin typeface="Google Sans"/>
              <a:ea typeface="Google Sans"/>
              <a:cs typeface="Google Sans"/>
              <a:sym typeface="Google Sans"/>
            </a:endParaRPr>
          </a:p>
          <a:p>
            <a:pPr indent="-298450" lvl="1" marL="914400" rtl="0" algn="l">
              <a:spcBef>
                <a:spcPts val="0"/>
              </a:spcBef>
              <a:spcAft>
                <a:spcPts val="0"/>
              </a:spcAft>
              <a:buClr>
                <a:schemeClr val="lt1"/>
              </a:buClr>
              <a:buSzPts val="1100"/>
              <a:buFont typeface="Google Sans"/>
              <a:buAutoNum type="alphaLcPeriod"/>
            </a:pPr>
            <a:r>
              <a:rPr lang="en">
                <a:solidFill>
                  <a:schemeClr val="lt1"/>
                </a:solidFill>
                <a:latin typeface="Google Sans"/>
                <a:ea typeface="Google Sans"/>
                <a:cs typeface="Google Sans"/>
                <a:sym typeface="Google Sans"/>
              </a:rPr>
              <a:t>Your demo / live app link</a:t>
            </a:r>
            <a:endParaRPr>
              <a:solidFill>
                <a:schemeClr val="lt1"/>
              </a:solidFill>
              <a:latin typeface="Google Sans"/>
              <a:ea typeface="Google Sans"/>
              <a:cs typeface="Google Sans"/>
              <a:sym typeface="Google Sans"/>
            </a:endParaRPr>
          </a:p>
          <a:p>
            <a:pPr indent="-317500" lvl="1" marL="914400" rtl="0" algn="l">
              <a:spcBef>
                <a:spcPts val="0"/>
              </a:spcBef>
              <a:spcAft>
                <a:spcPts val="0"/>
              </a:spcAft>
              <a:buClr>
                <a:schemeClr val="lt1"/>
              </a:buClr>
              <a:buSzPts val="1400"/>
              <a:buFont typeface="Google Sans"/>
              <a:buAutoNum type="alphaLcPeriod"/>
            </a:pPr>
            <a:r>
              <a:rPr lang="en">
                <a:solidFill>
                  <a:schemeClr val="lt1"/>
                </a:solidFill>
                <a:latin typeface="Google Sans"/>
                <a:ea typeface="Google Sans"/>
                <a:cs typeface="Google Sans"/>
                <a:sym typeface="Google Sans"/>
              </a:rPr>
              <a:t>Your Github repo link </a:t>
            </a:r>
            <a:endParaRPr>
              <a:solidFill>
                <a:schemeClr val="lt1"/>
              </a:solidFill>
              <a:latin typeface="Google Sans"/>
              <a:ea typeface="Google Sans"/>
              <a:cs typeface="Google Sans"/>
              <a:sym typeface="Google Sans"/>
            </a:endParaRPr>
          </a:p>
          <a:p>
            <a:pPr indent="-317500" lvl="1" marL="914400" rtl="0" algn="l">
              <a:spcBef>
                <a:spcPts val="0"/>
              </a:spcBef>
              <a:spcAft>
                <a:spcPts val="0"/>
              </a:spcAft>
              <a:buClr>
                <a:schemeClr val="lt1"/>
              </a:buClr>
              <a:buSzPts val="1400"/>
              <a:buFont typeface="Google Sans"/>
              <a:buAutoNum type="alphaLcPeriod"/>
            </a:pPr>
            <a:r>
              <a:rPr lang="en">
                <a:solidFill>
                  <a:schemeClr val="lt1"/>
                </a:solidFill>
                <a:latin typeface="Google Sans"/>
                <a:ea typeface="Google Sans"/>
                <a:cs typeface="Google Sans"/>
                <a:sym typeface="Google Sans"/>
              </a:rPr>
              <a:t>Recorded pitch video, </a:t>
            </a:r>
            <a:r>
              <a:rPr lang="en" u="sng">
                <a:solidFill>
                  <a:schemeClr val="lt1"/>
                </a:solidFill>
                <a:latin typeface="Google Sans"/>
                <a:ea typeface="Google Sans"/>
                <a:cs typeface="Google Sans"/>
                <a:sym typeface="Google Sans"/>
              </a:rPr>
              <a:t>under</a:t>
            </a:r>
            <a:r>
              <a:rPr lang="en">
                <a:solidFill>
                  <a:schemeClr val="lt1"/>
                </a:solidFill>
                <a:latin typeface="Google Sans"/>
                <a:ea typeface="Google Sans"/>
                <a:cs typeface="Google Sans"/>
                <a:sym typeface="Google Sans"/>
              </a:rPr>
              <a:t> 3 minutes. </a:t>
            </a:r>
            <a:r>
              <a:rPr b="1" lang="en">
                <a:solidFill>
                  <a:schemeClr val="lt1"/>
                </a:solidFill>
                <a:latin typeface="Google Sans"/>
                <a:ea typeface="Google Sans"/>
                <a:cs typeface="Google Sans"/>
                <a:sym typeface="Google Sans"/>
              </a:rPr>
              <a:t>Please record yourselves briefly explaining/pitching your solution.</a:t>
            </a:r>
            <a:r>
              <a:rPr lang="en">
                <a:solidFill>
                  <a:schemeClr val="lt1"/>
                </a:solidFill>
                <a:latin typeface="Google Sans"/>
                <a:ea typeface="Google Sans"/>
                <a:cs typeface="Google Sans"/>
                <a:sym typeface="Google Sans"/>
              </a:rPr>
              <a:t> </a:t>
            </a:r>
            <a:r>
              <a:rPr lang="en">
                <a:solidFill>
                  <a:schemeClr val="lt1"/>
                </a:solidFill>
                <a:latin typeface="Google Sans"/>
                <a:ea typeface="Google Sans"/>
                <a:cs typeface="Google Sans"/>
                <a:sym typeface="Google Sans"/>
              </a:rPr>
              <a:t>You can record this from any device.  </a:t>
            </a:r>
            <a:endParaRPr>
              <a:solidFill>
                <a:schemeClr val="lt1"/>
              </a:solidFill>
              <a:latin typeface="Google Sans"/>
              <a:ea typeface="Google Sans"/>
              <a:cs typeface="Google Sans"/>
              <a:sym typeface="Google Sans"/>
            </a:endParaRPr>
          </a:p>
          <a:p>
            <a:pPr indent="0" lvl="0" marL="0" rtl="0" algn="l">
              <a:lnSpc>
                <a:spcPct val="115000"/>
              </a:lnSpc>
              <a:spcBef>
                <a:spcPts val="1200"/>
              </a:spcBef>
              <a:spcAft>
                <a:spcPts val="0"/>
              </a:spcAft>
              <a:buNone/>
            </a:pPr>
            <a:r>
              <a:t/>
            </a:r>
            <a:endParaRPr sz="1200">
              <a:solidFill>
                <a:schemeClr val="lt1"/>
              </a:solidFill>
              <a:latin typeface="Google Sans Flex"/>
              <a:ea typeface="Google Sans Flex"/>
              <a:cs typeface="Google Sans Flex"/>
              <a:sym typeface="Google Sans Flex"/>
            </a:endParaRPr>
          </a:p>
          <a:p>
            <a:pPr indent="0" lvl="0" marL="0" rtl="0" algn="l">
              <a:lnSpc>
                <a:spcPct val="100000"/>
              </a:lnSpc>
              <a:spcBef>
                <a:spcPts val="1200"/>
              </a:spcBef>
              <a:spcAft>
                <a:spcPts val="0"/>
              </a:spcAft>
              <a:buNone/>
            </a:pPr>
            <a:r>
              <a:t/>
            </a:r>
            <a:endParaRPr sz="1200">
              <a:solidFill>
                <a:srgbClr val="F8F8F8"/>
              </a:solidFill>
              <a:latin typeface="Google Sans Flex"/>
              <a:ea typeface="Google Sans Flex"/>
              <a:cs typeface="Google Sans Flex"/>
              <a:sym typeface="Google Sans Flex"/>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7"/>
        </a:solidFill>
      </p:bgPr>
    </p:bg>
    <p:spTree>
      <p:nvGrpSpPr>
        <p:cNvPr id="118" name="Shape 118"/>
        <p:cNvGrpSpPr/>
        <p:nvPr/>
      </p:nvGrpSpPr>
      <p:grpSpPr>
        <a:xfrm>
          <a:off x="0" y="0"/>
          <a:ext cx="0" cy="0"/>
          <a:chOff x="0" y="0"/>
          <a:chExt cx="0" cy="0"/>
        </a:xfrm>
      </p:grpSpPr>
      <p:sp>
        <p:nvSpPr>
          <p:cNvPr id="119" name="Google Shape;119;p28"/>
          <p:cNvSpPr txBox="1"/>
          <p:nvPr/>
        </p:nvSpPr>
        <p:spPr>
          <a:xfrm>
            <a:off x="5790775" y="2586700"/>
            <a:ext cx="3080700" cy="613800"/>
          </a:xfrm>
          <a:prstGeom prst="rect">
            <a:avLst/>
          </a:prstGeom>
          <a:noFill/>
          <a:ln>
            <a:noFill/>
          </a:ln>
        </p:spPr>
        <p:txBody>
          <a:bodyPr anchorCtr="0" anchor="t" bIns="61650" lIns="61650" spcFirstLastPara="1" rIns="61650" wrap="square" tIns="61650">
            <a:noAutofit/>
          </a:bodyPr>
          <a:lstStyle/>
          <a:p>
            <a:pPr indent="0" lvl="0" marL="0" rtl="0" algn="ctr">
              <a:lnSpc>
                <a:spcPct val="90000"/>
              </a:lnSpc>
              <a:spcBef>
                <a:spcPts val="0"/>
              </a:spcBef>
              <a:spcAft>
                <a:spcPts val="0"/>
              </a:spcAft>
              <a:buNone/>
              <a:defRPr sz="2800" b="1">
                <a:solidFill>
                  <a:srgbClr val="202124"/>
                </a:solidFill>
                <a:latin typeface="Google Sans Flex Medium"/>
              </a:defRPr>
            </a:pPr>
            <a:r>
              <a:t>ATL-6</a:t>
            </a:r>
            <a:endParaRPr sz="2400">
              <a:solidFill>
                <a:schemeClr val="lt1"/>
              </a:solidFill>
              <a:latin typeface="Google Sans Flex Medium"/>
              <a:ea typeface="Google Sans Flex Medium"/>
              <a:cs typeface="Google Sans Flex Medium"/>
              <a:sym typeface="Google Sans Flex Medium"/>
            </a:endParaRPr>
          </a:p>
          <a:p>
            <a:pPr>
              <a:defRPr sz="1300" b="1">
                <a:solidFill>
                  <a:srgbClr val="1A73E8"/>
                </a:solidFill>
                <a:latin typeface="Google Sans Flex"/>
              </a:defRPr>
            </a:pPr>
            <a:r>
              <a:t>Atlanta Urban Climate Resilience Advisor</a:t>
            </a:r>
          </a:p>
          <a:p>
            <a:pPr>
              <a:defRPr sz="1000">
                <a:solidFill>
                  <a:srgbClr val="5F6368"/>
                </a:solidFill>
                <a:latin typeface="Google Sans Flex"/>
              </a:defRPr>
            </a:pPr>
            <a:r>
              <a:t>Challenge 1: Urban Heat • Track: This Budget Cycle</a:t>
            </a:r>
          </a:p>
        </p:txBody>
      </p:sp>
      <p:pic>
        <p:nvPicPr>
          <p:cNvPr id="120" name="Google Shape;120;p28" title="A4I_whiteArtboard 38.5-NYC.png"/>
          <p:cNvPicPr preferRelativeResize="0"/>
          <p:nvPr/>
        </p:nvPicPr>
        <p:blipFill rotWithShape="1">
          <a:blip r:embed="rId3">
            <a:alphaModFix/>
          </a:blip>
          <a:srcRect b="25727" l="0" r="0" t="27378"/>
          <a:stretch/>
        </p:blipFill>
        <p:spPr>
          <a:xfrm flipH="1" rot="10800000">
            <a:off x="3586375" y="2509998"/>
            <a:ext cx="2276050" cy="600399"/>
          </a:xfrm>
          <a:prstGeom prst="rect">
            <a:avLst/>
          </a:prstGeom>
          <a:noFill/>
          <a:ln>
            <a:noFill/>
          </a:ln>
        </p:spPr>
      </p:pic>
      <p:sp>
        <p:nvSpPr>
          <p:cNvPr id="121" name="TextBox 120"/>
          <p:cNvSpPr txBox="1"/>
          <p:nvPr/>
        </p:nvSpPr>
        <p:spPr>
          <a:xfrm>
            <a:off x="3584448" y="3611880"/>
            <a:ext cx="5120640" cy="1097280"/>
          </a:xfrm>
          <a:prstGeom prst="rect">
            <a:avLst/>
          </a:prstGeom>
          <a:noFill/>
        </p:spPr>
        <p:txBody>
          <a:bodyPr wrap="square">
            <a:spAutoFit/>
          </a:bodyPr>
          <a:lstStyle/>
          <a:p>
            <a:pPr>
              <a:defRPr sz="900">
                <a:solidFill>
                  <a:srgbClr val="202124"/>
                </a:solidFill>
              </a:defRPr>
            </a:pPr>
            <a:r>
              <a:t>• Live Dashboard: atlanta-heat-advisor-frontend-1004921377034.us-central1.run.app</a:t>
            </a:r>
          </a:p>
          <a:p>
            <a:pPr>
              <a:defRPr sz="900">
                <a:solidFill>
                  <a:srgbClr val="202124"/>
                </a:solidFill>
              </a:defRPr>
            </a:pPr>
            <a:r>
              <a:t>• Agent API (Cloud Run): atlanta-heat-advisor-1004921377034.us-central1.run.app</a:t>
            </a:r>
          </a:p>
          <a:p>
            <a:pPr>
              <a:defRPr sz="900">
                <a:solidFill>
                  <a:srgbClr val="202124"/>
                </a:solidFill>
              </a:defRPr>
            </a:pPr>
            <a:r>
              <a:t>• GitHub: github.com/agustincori/A4I2026-challenge-1-walkability</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7"/>
        </a:solidFill>
      </p:bgPr>
    </p:bg>
    <p:spTree>
      <p:nvGrpSpPr>
        <p:cNvPr id="124" name="Shape 124"/>
        <p:cNvGrpSpPr/>
        <p:nvPr/>
      </p:nvGrpSpPr>
      <p:grpSpPr>
        <a:xfrm>
          <a:off x="0" y="0"/>
          <a:ext cx="0" cy="0"/>
          <a:chOff x="0" y="0"/>
          <a:chExt cx="0" cy="0"/>
        </a:xfrm>
      </p:grpSpPr>
      <p:graphicFrame>
        <p:nvGraphicFramePr>
          <p:cNvPr id="125" name="Google Shape;125;p29"/>
          <p:cNvGraphicFramePr/>
          <p:nvPr/>
        </p:nvGraphicFramePr>
        <p:xfrm>
          <a:off x="577750" y="1357275"/>
          <a:ext cx="3000000" cy="3000000"/>
        </p:xfrm>
        <a:graphic>
          <a:graphicData uri="http://schemas.openxmlformats.org/drawingml/2006/table">
            <a:tbl>
              <a:tblPr>
                <a:noFill/>
                <a:tableStyleId>{9963002A-2912-44D3-9004-54B48C4A974D}</a:tableStyleId>
              </a:tblPr>
              <a:tblGrid>
                <a:gridCol w="1352950"/>
                <a:gridCol w="1352950"/>
                <a:gridCol w="1238050"/>
                <a:gridCol w="1467825"/>
                <a:gridCol w="1352950"/>
                <a:gridCol w="1352950"/>
              </a:tblGrid>
              <a:tr h="399675">
                <a:tc>
                  <a:txBody>
                    <a:bodyPr/>
                    <a:lstStyle/>
                    <a:p>
                      <a:pPr indent="0" lvl="0" marL="0" rtl="0" algn="ctr">
                        <a:spcBef>
                          <a:spcPts val="0"/>
                        </a:spcBef>
                        <a:spcAft>
                          <a:spcPts val="0"/>
                        </a:spcAft>
                        <a:buNone/>
                      </a:pPr>
                      <a:r>
                        <a:rPr b="1" lang="en" sz="800">
                          <a:solidFill>
                            <a:schemeClr val="lt1"/>
                          </a:solidFill>
                          <a:latin typeface="Google Sans Flex"/>
                          <a:ea typeface="Google Sans Flex"/>
                          <a:cs typeface="Google Sans Flex"/>
                          <a:sym typeface="Google Sans Flex"/>
                        </a:rPr>
                        <a:t>NAME </a:t>
                      </a:r>
                      <a:endParaRPr b="1" sz="800">
                        <a:solidFill>
                          <a:schemeClr val="lt1"/>
                        </a:solidFill>
                        <a:latin typeface="Google Sans Flex"/>
                        <a:ea typeface="Google Sans Flex"/>
                        <a:cs typeface="Google Sans Flex"/>
                        <a:sym typeface="Google Sans Flex"/>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800">
                          <a:solidFill>
                            <a:schemeClr val="lt1"/>
                          </a:solidFill>
                          <a:latin typeface="Google Sans Flex"/>
                          <a:ea typeface="Google Sans Flex"/>
                          <a:cs typeface="Google Sans Flex"/>
                          <a:sym typeface="Google Sans Flex"/>
                        </a:rPr>
                        <a:t>EMAIL</a:t>
                      </a:r>
                      <a:endParaRPr b="1" sz="800">
                        <a:latin typeface="Google Sans Flex"/>
                        <a:ea typeface="Google Sans Flex"/>
                        <a:cs typeface="Google Sans Flex"/>
                        <a:sym typeface="Google Sans Flex"/>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800">
                          <a:solidFill>
                            <a:schemeClr val="lt1"/>
                          </a:solidFill>
                          <a:latin typeface="Google Sans Flex"/>
                          <a:ea typeface="Google Sans Flex"/>
                          <a:cs typeface="Google Sans Flex"/>
                          <a:sym typeface="Google Sans Flex"/>
                        </a:rPr>
                        <a:t>PHONE</a:t>
                      </a:r>
                      <a:endParaRPr b="1" sz="800">
                        <a:latin typeface="Google Sans Flex"/>
                        <a:ea typeface="Google Sans Flex"/>
                        <a:cs typeface="Google Sans Flex"/>
                        <a:sym typeface="Google Sans Flex"/>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chemeClr val="lt1"/>
                          </a:solidFill>
                          <a:latin typeface="Google Sans Flex"/>
                          <a:ea typeface="Google Sans Flex"/>
                          <a:cs typeface="Google Sans Flex"/>
                          <a:sym typeface="Google Sans Flex"/>
                        </a:rPr>
                        <a:t>FILMING AVAILABILITY</a:t>
                      </a:r>
                      <a:endParaRPr b="1" sz="800">
                        <a:solidFill>
                          <a:schemeClr val="lt1"/>
                        </a:solidFill>
                        <a:latin typeface="Google Sans Flex"/>
                        <a:ea typeface="Google Sans Flex"/>
                        <a:cs typeface="Google Sans Flex"/>
                        <a:sym typeface="Google Sans Flex"/>
                      </a:endParaRPr>
                    </a:p>
                    <a:p>
                      <a:pPr indent="0" lvl="0" marL="0" rtl="0" algn="ctr">
                        <a:lnSpc>
                          <a:spcPct val="115000"/>
                        </a:lnSpc>
                        <a:spcBef>
                          <a:spcPts val="0"/>
                        </a:spcBef>
                        <a:spcAft>
                          <a:spcPts val="0"/>
                        </a:spcAft>
                        <a:buNone/>
                      </a:pPr>
                      <a:r>
                        <a:rPr lang="en" sz="600">
                          <a:solidFill>
                            <a:schemeClr val="lt1"/>
                          </a:solidFill>
                          <a:latin typeface="Google Sans Flex"/>
                          <a:ea typeface="Google Sans Flex"/>
                          <a:cs typeface="Google Sans Flex"/>
                          <a:sym typeface="Google Sans Flex"/>
                        </a:rPr>
                        <a:t>(between </a:t>
                      </a:r>
                      <a:r>
                        <a:rPr lang="en" sz="600">
                          <a:solidFill>
                            <a:schemeClr val="lt1"/>
                          </a:solidFill>
                          <a:latin typeface="Google Sans Flex"/>
                          <a:ea typeface="Google Sans Flex"/>
                          <a:cs typeface="Google Sans Flex"/>
                          <a:sym typeface="Google Sans Flex"/>
                        </a:rPr>
                        <a:t>1:00-4:00 PM </a:t>
                      </a:r>
                      <a:r>
                        <a:rPr lang="en" sz="600">
                          <a:solidFill>
                            <a:schemeClr val="lt1"/>
                          </a:solidFill>
                          <a:latin typeface="Google Sans Flex"/>
                          <a:ea typeface="Google Sans Flex"/>
                          <a:cs typeface="Google Sans Flex"/>
                          <a:sym typeface="Google Sans Flex"/>
                        </a:rPr>
                        <a:t>on 10/29)</a:t>
                      </a:r>
                      <a:endParaRPr sz="600">
                        <a:solidFill>
                          <a:schemeClr val="lt1"/>
                        </a:solidFill>
                        <a:latin typeface="Google Sans Flex"/>
                        <a:ea typeface="Google Sans Flex"/>
                        <a:cs typeface="Google Sans Flex"/>
                        <a:sym typeface="Google Sans Flex"/>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chemeClr val="lt1"/>
                          </a:solidFill>
                          <a:latin typeface="Google Sans Flex"/>
                          <a:ea typeface="Google Sans Flex"/>
                          <a:cs typeface="Google Sans Flex"/>
                          <a:sym typeface="Google Sans Flex"/>
                        </a:rPr>
                        <a:t>PROJECT SHARING</a:t>
                      </a:r>
                      <a:endParaRPr b="1" sz="800">
                        <a:solidFill>
                          <a:schemeClr val="lt1"/>
                        </a:solidFill>
                        <a:latin typeface="Google Sans Flex"/>
                        <a:ea typeface="Google Sans Flex"/>
                        <a:cs typeface="Google Sans Flex"/>
                        <a:sym typeface="Google Sans Flex"/>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800">
                          <a:solidFill>
                            <a:schemeClr val="lt1"/>
                          </a:solidFill>
                          <a:latin typeface="Google Sans Flex"/>
                          <a:ea typeface="Google Sans Flex"/>
                          <a:cs typeface="Google Sans Flex"/>
                          <a:sym typeface="Google Sans Flex"/>
                        </a:rPr>
                        <a:t>SHARE WITH </a:t>
                      </a:r>
                      <a:br>
                        <a:rPr b="1" lang="en" sz="800">
                          <a:solidFill>
                            <a:schemeClr val="lt1"/>
                          </a:solidFill>
                          <a:latin typeface="Google Sans Flex"/>
                          <a:ea typeface="Google Sans Flex"/>
                          <a:cs typeface="Google Sans Flex"/>
                          <a:sym typeface="Google Sans Flex"/>
                        </a:rPr>
                      </a:br>
                      <a:r>
                        <a:rPr lang="en" sz="600">
                          <a:solidFill>
                            <a:schemeClr val="lt1"/>
                          </a:solidFill>
                          <a:latin typeface="Google Sans Flex"/>
                          <a:ea typeface="Google Sans Flex"/>
                          <a:cs typeface="Google Sans Flex"/>
                          <a:sym typeface="Google Sans Flex"/>
                        </a:rPr>
                        <a:t>(provide emails)</a:t>
                      </a:r>
                      <a:endParaRPr sz="600">
                        <a:latin typeface="Google Sans Flex"/>
                        <a:ea typeface="Google Sans Flex"/>
                        <a:cs typeface="Google Sans Flex"/>
                        <a:sym typeface="Google Sans Flex"/>
                      </a:endParaRPr>
                    </a:p>
                  </a:txBody>
                  <a:tcPr marT="91425" marB="91425" marR="91425" marL="9142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1775">
                <a:tc>
                  <a:txBody>
                    <a:bodyPr/>
                    <a:lstStyle/>
                    <a:p>
                      <a:pPr>
                        <a:defRPr sz="850">
                          <a:latin typeface="Google Sans Flex"/>
                        </a:defRPr>
                      </a:pPr>
                      <a:r>
                        <a:t>Agustin Corigliano</a:t>
                      </a: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a:defRPr sz="850">
                          <a:latin typeface="Google Sans Flex"/>
                        </a:defRPr>
                      </a:pPr>
                      <a:r>
                        <a:t>pagustincorigliano@gmail.com</a:t>
                      </a: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a:defRPr sz="850">
                          <a:latin typeface="Google Sans Flex"/>
                        </a:defRPr>
                      </a:pPr>
                      <a:r>
                        <a:t>[On File / Discord]</a:t>
                      </a: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a:defRPr sz="850">
                          <a:latin typeface="Google Sans Flex"/>
                        </a:defRPr>
                      </a:pPr>
                      <a:r>
                        <a:t>Yes (1:00-4:00 PM on 10/29)</a:t>
                      </a: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a:defRPr sz="850">
                          <a:latin typeface="Google Sans Flex"/>
                        </a:defRPr>
                      </a:pPr>
                      <a:r>
                        <a:t>Yes</a:t>
                      </a: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a:defRPr sz="850">
                          <a:latin typeface="Google Sans Flex"/>
                        </a:defRPr>
                      </a:pPr>
                      <a:r>
                        <a:t>team@agentsforimpact.org</a:t>
                      </a: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1775">
                <a:tc>
                  <a:txBody>
                    <a:bodyPr/>
                    <a:lstStyle/>
                    <a:p>
                      <a:pPr>
                        <a:defRPr sz="850">
                          <a:latin typeface="Google Sans Flex"/>
                        </a:defRPr>
                      </a:pPr>
                      <a:r>
                        <a:t>tshuggler</a:t>
                      </a: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a:defRPr sz="850">
                          <a:latin typeface="Google Sans Flex"/>
                        </a:defRPr>
                      </a:pPr>
                      <a:r>
                        <a:t>tshuggler@gmail.com</a:t>
                      </a: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a:defRPr sz="850">
                          <a:latin typeface="Google Sans Flex"/>
                        </a:defRPr>
                      </a:pPr>
                      <a:r>
                        <a:t>[On File / Discord]</a:t>
                      </a: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a:defRPr sz="850">
                          <a:latin typeface="Google Sans Flex"/>
                        </a:defRPr>
                      </a:pPr>
                      <a:r>
                        <a:t>Yes (1:00-4:00 PM on 10/29)</a:t>
                      </a: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a:defRPr sz="850">
                          <a:latin typeface="Google Sans Flex"/>
                        </a:defRPr>
                      </a:pPr>
                      <a:r>
                        <a:t>Yes</a:t>
                      </a: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a:defRPr sz="850">
                          <a:latin typeface="Google Sans Flex"/>
                        </a:defRPr>
                      </a:pPr>
                      <a:r>
                        <a:t>team@agentsforimpact.org</a:t>
                      </a: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38425">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38425">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1775">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1775">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38425">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71775">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lt1"/>
                        </a:solidFill>
                      </a:endParaRPr>
                    </a:p>
                  </a:txBody>
                  <a:tcPr marT="19050" marB="19050" marR="28575" marL="2857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26" name="Google Shape;126;p29"/>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nvSpPr>
        <p:spPr>
          <a:xfrm>
            <a:off x="3415450" y="468350"/>
            <a:ext cx="5376000" cy="88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chemeClr val="lt1"/>
                </a:solidFill>
                <a:latin typeface="Google Sans Flex"/>
                <a:ea typeface="Google Sans Flex"/>
                <a:cs typeface="Google Sans Flex"/>
                <a:sym typeface="Google Sans Flex"/>
              </a:rPr>
              <a:t>Filming Availability: </a:t>
            </a:r>
            <a:r>
              <a:rPr lang="en" sz="800">
                <a:solidFill>
                  <a:schemeClr val="lt1"/>
                </a:solidFill>
                <a:latin typeface="Google Sans Flex"/>
                <a:ea typeface="Google Sans Flex"/>
                <a:cs typeface="Google Sans Flex"/>
                <a:sym typeface="Google Sans Flex"/>
              </a:rPr>
              <a:t>Should your team be selected as the winner, indicate if and when you are able to return to the Coca-Cola Roxy between 1:00-4:00 PM on Thursday 10/29 to film a team pitch of your project. </a:t>
            </a:r>
            <a:endParaRPr sz="800">
              <a:solidFill>
                <a:schemeClr val="lt1"/>
              </a:solidFill>
              <a:latin typeface="Google Sans Flex"/>
              <a:ea typeface="Google Sans Flex"/>
              <a:cs typeface="Google Sans Flex"/>
              <a:sym typeface="Google Sans Flex"/>
            </a:endParaRPr>
          </a:p>
          <a:p>
            <a:pPr indent="0" lvl="0" marL="0" rtl="0" algn="l">
              <a:lnSpc>
                <a:spcPct val="115000"/>
              </a:lnSpc>
              <a:spcBef>
                <a:spcPts val="0"/>
              </a:spcBef>
              <a:spcAft>
                <a:spcPts val="0"/>
              </a:spcAft>
              <a:buClr>
                <a:schemeClr val="dk1"/>
              </a:buClr>
              <a:buSzPts val="1100"/>
              <a:buFont typeface="Arial"/>
              <a:buNone/>
            </a:pPr>
            <a:r>
              <a:rPr b="1" lang="en" sz="800">
                <a:solidFill>
                  <a:schemeClr val="lt1"/>
                </a:solidFill>
                <a:latin typeface="Google Sans Flex"/>
                <a:ea typeface="Google Sans Flex"/>
                <a:cs typeface="Google Sans Flex"/>
                <a:sym typeface="Google Sans Flex"/>
              </a:rPr>
              <a:t>Project Sharing: </a:t>
            </a:r>
            <a:r>
              <a:rPr lang="en" sz="800">
                <a:solidFill>
                  <a:schemeClr val="lt1"/>
                </a:solidFill>
                <a:latin typeface="Google Sans Flex"/>
                <a:ea typeface="Google Sans Flex"/>
                <a:cs typeface="Google Sans Flex"/>
                <a:sym typeface="Google Sans Flex"/>
              </a:rPr>
              <a:t>Mark “yes” if you are OK with us sharing what you built with your team at work.</a:t>
            </a:r>
            <a:endParaRPr sz="800">
              <a:solidFill>
                <a:schemeClr val="lt1"/>
              </a:solidFill>
              <a:latin typeface="Google Sans Flex"/>
              <a:ea typeface="Google Sans Flex"/>
              <a:cs typeface="Google Sans Flex"/>
              <a:sym typeface="Google Sans Flex"/>
            </a:endParaRPr>
          </a:p>
          <a:p>
            <a:pPr indent="0" lvl="0" marL="0" rtl="0" algn="l">
              <a:lnSpc>
                <a:spcPct val="115000"/>
              </a:lnSpc>
              <a:spcBef>
                <a:spcPts val="0"/>
              </a:spcBef>
              <a:spcAft>
                <a:spcPts val="0"/>
              </a:spcAft>
              <a:buClr>
                <a:schemeClr val="dk1"/>
              </a:buClr>
              <a:buSzPts val="1100"/>
              <a:buFont typeface="Arial"/>
              <a:buNone/>
            </a:pPr>
            <a:r>
              <a:rPr b="1" lang="en" sz="800">
                <a:solidFill>
                  <a:schemeClr val="lt1"/>
                </a:solidFill>
                <a:latin typeface="Google Sans Flex"/>
                <a:ea typeface="Google Sans Flex"/>
                <a:cs typeface="Google Sans Flex"/>
                <a:sym typeface="Google Sans Flex"/>
              </a:rPr>
              <a:t>Share With: </a:t>
            </a:r>
            <a:r>
              <a:rPr lang="en" sz="800">
                <a:solidFill>
                  <a:schemeClr val="lt1"/>
                </a:solidFill>
                <a:latin typeface="Google Sans Flex"/>
                <a:ea typeface="Google Sans Flex"/>
                <a:cs typeface="Google Sans Flex"/>
                <a:sym typeface="Google Sans Flex"/>
              </a:rPr>
              <a:t>If “yes” to the above, is there anyone specific you’d like us to share it with at work?  Provide email(s).</a:t>
            </a:r>
            <a:endParaRPr sz="800">
              <a:solidFill>
                <a:schemeClr val="lt1"/>
              </a:solidFill>
              <a:latin typeface="Google Sans Flex"/>
              <a:ea typeface="Google Sans Flex"/>
              <a:cs typeface="Google Sans Flex"/>
              <a:sym typeface="Google Sans Flex"/>
            </a:endParaRPr>
          </a:p>
          <a:p>
            <a:pPr indent="0" lvl="0" marL="0" rtl="0" algn="l">
              <a:lnSpc>
                <a:spcPct val="115000"/>
              </a:lnSpc>
              <a:spcBef>
                <a:spcPts val="0"/>
              </a:spcBef>
              <a:spcAft>
                <a:spcPts val="0"/>
              </a:spcAft>
              <a:buNone/>
            </a:pPr>
            <a:r>
              <a:rPr lang="en" sz="800">
                <a:solidFill>
                  <a:schemeClr val="lt1"/>
                </a:solidFill>
                <a:latin typeface="Google Sans Flex"/>
                <a:ea typeface="Google Sans Flex"/>
                <a:cs typeface="Google Sans Flex"/>
                <a:sym typeface="Google Sans Flex"/>
              </a:rPr>
              <a:t>👉 </a:t>
            </a:r>
            <a:r>
              <a:rPr b="1" lang="en" sz="800">
                <a:solidFill>
                  <a:schemeClr val="lt1"/>
                </a:solidFill>
                <a:latin typeface="Google Sans Flex"/>
                <a:ea typeface="Google Sans Flex"/>
                <a:cs typeface="Google Sans Flex"/>
                <a:sym typeface="Google Sans Flex"/>
              </a:rPr>
              <a:t>Check your Discord channel tonight to learn if you won. We will contact you no later than 9:00 PM.  </a:t>
            </a:r>
            <a:endParaRPr b="1" sz="800">
              <a:solidFill>
                <a:schemeClr val="lt1"/>
              </a:solidFill>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7"/>
        </a:solidFill>
      </p:bgPr>
    </p:bg>
    <p:spTree>
      <p:nvGrpSpPr>
        <p:cNvPr id="131" name="Shape 131"/>
        <p:cNvGrpSpPr/>
        <p:nvPr/>
      </p:nvGrpSpPr>
      <p:grpSpPr>
        <a:xfrm>
          <a:off x="0" y="0"/>
          <a:ext cx="0" cy="0"/>
          <a:chOff x="0" y="0"/>
          <a:chExt cx="0" cy="0"/>
        </a:xfrm>
      </p:grpSpPr>
      <p:sp>
        <p:nvSpPr>
          <p:cNvPr id="132" name="Google Shape;132;p30"/>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3" name="Google Shape;133;p30" title="A4I_whiteArtboard 28.5-NYC.png"/>
          <p:cNvPicPr preferRelativeResize="0"/>
          <p:nvPr/>
        </p:nvPicPr>
        <p:blipFill rotWithShape="1">
          <a:blip r:embed="rId3">
            <a:alphaModFix/>
          </a:blip>
          <a:srcRect b="0" l="32349" r="40091" t="0"/>
          <a:stretch/>
        </p:blipFill>
        <p:spPr>
          <a:xfrm>
            <a:off x="1774475" y="471199"/>
            <a:ext cx="1003551" cy="2048250"/>
          </a:xfrm>
          <a:prstGeom prst="rect">
            <a:avLst/>
          </a:prstGeom>
          <a:noFill/>
          <a:ln>
            <a:noFill/>
          </a:ln>
        </p:spPr>
      </p:pic>
      <p:pic>
        <p:nvPicPr>
          <p:cNvPr id="134" name="Google Shape;134;p30" title="A4I_whiteArtboard 28.5-NYC.png"/>
          <p:cNvPicPr preferRelativeResize="0"/>
          <p:nvPr/>
        </p:nvPicPr>
        <p:blipFill rotWithShape="1">
          <a:blip r:embed="rId3">
            <a:alphaModFix/>
          </a:blip>
          <a:srcRect b="0" l="32349" r="40091" t="0"/>
          <a:stretch/>
        </p:blipFill>
        <p:spPr>
          <a:xfrm rot="10800000">
            <a:off x="6382750" y="506306"/>
            <a:ext cx="1003551" cy="2048250"/>
          </a:xfrm>
          <a:prstGeom prst="rect">
            <a:avLst/>
          </a:prstGeom>
          <a:noFill/>
          <a:ln>
            <a:noFill/>
          </a:ln>
        </p:spPr>
      </p:pic>
      <p:sp>
        <p:nvSpPr>
          <p:cNvPr id="135" name="Google Shape;135;p30"/>
          <p:cNvSpPr txBox="1"/>
          <p:nvPr/>
        </p:nvSpPr>
        <p:spPr>
          <a:xfrm>
            <a:off x="1097280" y="1371600"/>
            <a:ext cx="6949440" cy="329184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1200"/>
              </a:spcBef>
              <a:spcAft>
                <a:spcPts val="300"/>
              </a:spcAft>
              <a:buNone/>
              <a:defRPr b="1" sz="1300">
                <a:solidFill>
                  <a:srgbClr val="D93025"/>
                </a:solidFill>
                <a:latin typeface="Google Sans Flex Medium"/>
              </a:defRPr>
            </a:pPr>
            <a:r>
              <a:t>⚠️ Real-World Challenge: Atlanta's Urban Heat Disparity</a:t>
            </a:r>
            <a:endParaRPr sz="1200">
              <a:solidFill>
                <a:schemeClr val="dk1"/>
              </a:solidFill>
            </a:endParaRPr>
          </a:p>
          <a:p>
            <a:pPr>
              <a:spcAft>
                <a:spcPts val="300"/>
              </a:spcAft>
            </a:pPr>
            <a:r>
              <a:rPr b="1" sz="950">
                <a:solidFill>
                  <a:srgbClr val="202124"/>
                </a:solidFill>
                <a:latin typeface="Google Sans Flex"/>
              </a:rPr>
              <a:t>• The Airport Forecast Fallacy: </a:t>
            </a:r>
            <a:r>
              <a:rPr sz="950">
                <a:solidFill>
                  <a:srgbClr val="202124"/>
                </a:solidFill>
                <a:latin typeface="Google Sans Flex"/>
              </a:rPr>
              <a:t>Regional forecasts quote KATL Airport (95°F), hiding lethal street-level microclimates running up to +4.77°F hotter in dense asphalt corridors like Sweet Auburn.</a:t>
            </a:r>
          </a:p>
          <a:p>
            <a:pPr>
              <a:spcAft>
                <a:spcPts val="300"/>
              </a:spcAft>
            </a:pPr>
            <a:r>
              <a:rPr b="1" sz="950">
                <a:solidFill>
                  <a:srgbClr val="202124"/>
                </a:solidFill>
                <a:latin typeface="Google Sans Flex"/>
              </a:rPr>
              <a:t>• Severe Transit &amp; Canopy Deprivation: </a:t>
            </a:r>
            <a:r>
              <a:rPr sz="950">
                <a:solidFill>
                  <a:srgbClr val="202124"/>
                </a:solidFill>
                <a:latin typeface="Google Sans Flex"/>
              </a:rPr>
              <a:t>In the hottest census tracts, &gt;47% of households have no vehicle and tree canopy drops below 33%. Residents cannot walk or drive miles across town to regional cooling centers.</a:t>
            </a:r>
          </a:p>
          <a:p>
            <a:pPr>
              <a:spcAft>
                <a:spcPts val="300"/>
              </a:spcAft>
              <a:defRPr b="1" sz="1300">
                <a:solidFill>
                  <a:srgbClr val="1A73E8"/>
                </a:solidFill>
                <a:latin typeface="Google Sans Flex Medium"/>
              </a:defRPr>
            </a:pPr>
            <a:r>
              <a:t>🏛️ Details: The Municipal Decision Crisis</a:t>
            </a:r>
          </a:p>
          <a:p>
            <a:pPr>
              <a:spcAft>
                <a:spcPts val="300"/>
              </a:spcAft>
            </a:pPr>
            <a:r>
              <a:rPr b="1" sz="950">
                <a:solidFill>
                  <a:srgbClr val="202124"/>
                </a:solidFill>
                <a:latin typeface="Google Sans Flex"/>
              </a:rPr>
              <a:t>• The Persona (Dana, City Manager's Office): </a:t>
            </a:r>
            <a:r>
              <a:rPr sz="950">
                <a:solidFill>
                  <a:srgbClr val="202124"/>
                </a:solidFill>
                <a:latin typeface="Google Sans Flex"/>
              </a:rPr>
              <a:t>Must site 3 permanent cooling centers / resilience hubs ahead of a 102°F heatwave for City Council authorization tomorrow at 9:00 AM.</a:t>
            </a:r>
          </a:p>
          <a:p>
            <a:pPr>
              <a:spcAft>
                <a:spcPts val="300"/>
              </a:spcAft>
            </a:pPr>
            <a:r>
              <a:rPr b="1" sz="950">
                <a:solidFill>
                  <a:srgbClr val="202124"/>
                </a:solidFill>
                <a:latin typeface="Google Sans Flex"/>
              </a:rPr>
              <a:t>• Why It Matters on a Societal Scale: </a:t>
            </a:r>
            <a:r>
              <a:rPr sz="950">
                <a:solidFill>
                  <a:srgbClr val="202124"/>
                </a:solidFill>
                <a:latin typeface="Google Sans Flex"/>
              </a:rPr>
              <a:t>Heat is America's deadliest climate hazard. Grounding siting in empirical microclimates and pedestrian walk networks prevents heat mortality and eliminates political bias.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7"/>
        </a:solidFill>
      </p:bgPr>
    </p:bg>
    <p:spTree>
      <p:nvGrpSpPr>
        <p:cNvPr id="139" name="Shape 139"/>
        <p:cNvGrpSpPr/>
        <p:nvPr/>
      </p:nvGrpSpPr>
      <p:grpSpPr>
        <a:xfrm>
          <a:off x="0" y="0"/>
          <a:ext cx="0" cy="0"/>
          <a:chOff x="0" y="0"/>
          <a:chExt cx="0" cy="0"/>
        </a:xfrm>
      </p:grpSpPr>
      <p:sp>
        <p:nvSpPr>
          <p:cNvPr id="140" name="Google Shape;140;p31"/>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1" name="Google Shape;141;p31"/>
          <p:cNvSpPr txBox="1"/>
          <p:nvPr/>
        </p:nvSpPr>
        <p:spPr>
          <a:xfrm>
            <a:off x="1097280" y="1280160"/>
            <a:ext cx="6949440" cy="3474720"/>
          </a:xfrm>
          <a:prstGeom prst="rect">
            <a:avLst/>
          </a:prstGeom>
          <a:noFill/>
          <a:ln>
            <a:noFill/>
          </a:ln>
        </p:spPr>
        <p:txBody>
          <a:bodyPr anchorCtr="0" anchor="t" bIns="91425" lIns="91425" spcFirstLastPara="1" rIns="91425" wrap="square" tIns="91425">
            <a:spAutoFit/>
          </a:bodyPr>
          <a:lstStyle/>
          <a:p>
            <a:pPr indent="0" lvl="0" marL="0" rtl="0" algn="ctr">
              <a:lnSpc>
                <a:spcPct val="105000"/>
              </a:lnSpc>
              <a:spcBef>
                <a:spcPts val="1200"/>
              </a:spcBef>
              <a:spcAft>
                <a:spcPts val="300"/>
              </a:spcAft>
              <a:buNone/>
              <a:defRPr b="1" sz="1300">
                <a:solidFill>
                  <a:srgbClr val="1A73E8"/>
                </a:solidFill>
                <a:latin typeface="Google Sans Flex Medium"/>
              </a:defRPr>
            </a:pPr>
            <a:r>
              <a:t>🤖 Our Custom Agent: Creating Meaningful Change</a:t>
            </a:r>
            <a:endParaRPr sz="1200"/>
          </a:p>
          <a:p>
            <a:pPr>
              <a:spcAft>
                <a:spcPts val="300"/>
              </a:spcAft>
            </a:pPr>
            <a:r>
              <a:rPr b="1" sz="950">
                <a:solidFill>
                  <a:srgbClr val="202124"/>
                </a:solidFill>
                <a:latin typeface="Google Sans Flex"/>
              </a:rPr>
              <a:t>• Autonomous Municipal Advisor: </a:t>
            </a:r>
            <a:r>
              <a:rPr sz="950">
                <a:solidFill>
                  <a:srgbClr val="202124"/>
                </a:solidFill>
                <a:latin typeface="Google Sans Flex"/>
              </a:rPr>
              <a:t>Powered by Gemini 2.5 Flash on Vertex AI via Google ADK with 7 specialized Python domain tools connecting directly to BigQuery ML.</a:t>
            </a:r>
          </a:p>
          <a:p>
            <a:pPr>
              <a:spcAft>
                <a:spcPts val="300"/>
              </a:spcAft>
            </a:pPr>
            <a:r>
              <a:rPr b="1" sz="950">
                <a:solidFill>
                  <a:srgbClr val="202124"/>
                </a:solidFill>
                <a:latin typeface="Google Sans Flex"/>
              </a:rPr>
              <a:t>• Conversational Landmark Search: </a:t>
            </a:r>
            <a:r>
              <a:rPr sz="950">
                <a:solidFill>
                  <a:srgbClr val="202124"/>
                </a:solidFill>
                <a:latin typeface="Google Sans Flex"/>
              </a:rPr>
              <a:t>Planners query natural street names ('Sweet Auburn', 'Peoplestown'). The agent resolves Census GEOIDs automatically, eliminating technical friction.</a:t>
            </a:r>
          </a:p>
          <a:p>
            <a:pPr>
              <a:spcAft>
                <a:spcPts val="300"/>
              </a:spcAft>
            </a:pPr>
            <a:r>
              <a:rPr b="1" sz="950">
                <a:solidFill>
                  <a:srgbClr val="202124"/>
                </a:solidFill>
                <a:latin typeface="Google Sans Flex"/>
              </a:rPr>
              <a:t>• 10-Minute Pedestrian Isochrones: </a:t>
            </a:r>
            <a:r>
              <a:rPr sz="950">
                <a:solidFill>
                  <a:srgbClr val="202124"/>
                </a:solidFill>
                <a:latin typeface="Google Sans Flex"/>
              </a:rPr>
              <a:t>Replaces circular Euclidean radii with 800m street-network walk buffers, accounting for physical highway, rail, and transit access barriers.</a:t>
            </a:r>
          </a:p>
          <a:p>
            <a:pPr>
              <a:spcAft>
                <a:spcPts val="300"/>
              </a:spcAft>
              <a:defRPr b="1" sz="1300">
                <a:solidFill>
                  <a:srgbClr val="1E8E3E"/>
                </a:solidFill>
                <a:latin typeface="Google Sans Flex Medium"/>
              </a:defRPr>
            </a:pPr>
            <a:r>
              <a:t>📈 Details: Concrete, Defensible Outcomes</a:t>
            </a:r>
          </a:p>
          <a:p>
            <a:pPr>
              <a:spcAft>
                <a:spcPts val="300"/>
              </a:spcAft>
            </a:pPr>
            <a:r>
              <a:rPr b="1" sz="950">
                <a:solidFill>
                  <a:srgbClr val="202124"/>
                </a:solidFill>
                <a:latin typeface="Google Sans Flex"/>
              </a:rPr>
              <a:t>• Top 3 Recommended Sites: </a:t>
            </a:r>
            <a:r>
              <a:rPr sz="950">
                <a:solidFill>
                  <a:srgbClr val="202124"/>
                </a:solidFill>
                <a:latin typeface="Google Sans Flex"/>
              </a:rPr>
              <a:t>Sweet Auburn (Tract 27, Score 0.864, +4.61°F offset), South Pryor (Tract 55.02, Score 0.838, +3.94°F), and Mechanicsville (Tract 56, Score 0.811, +3.78°F), sheltering 19,850 high-risk residents.</a:t>
            </a:r>
          </a:p>
          <a:p>
            <a:pPr>
              <a:spcAft>
                <a:spcPts val="300"/>
              </a:spcAft>
            </a:pPr>
            <a:r>
              <a:rPr b="1" sz="950">
                <a:solidFill>
                  <a:srgbClr val="202124"/>
                </a:solidFill>
                <a:latin typeface="Google Sans Flex"/>
              </a:rPr>
              <a:t>• 100% Outcome Equity Audit: </a:t>
            </a:r>
            <a:r>
              <a:rPr sz="950">
                <a:solidFill>
                  <a:srgbClr val="202124"/>
                </a:solidFill>
                <a:latin typeface="Google Sans Flex"/>
              </a:rPr>
              <a:t>All selected sites clear Atlanta's 75th-percentile hardship thresholds (poverty ≥24.5%, carlessness ≥14.8%), guaranteeing zero equity drift.</a:t>
            </a:r>
          </a:p>
          <a:p>
            <a:pPr>
              <a:spcAft>
                <a:spcPts val="300"/>
              </a:spcAft>
            </a:pPr>
            <a:r>
              <a:rPr b="1" sz="950">
                <a:solidFill>
                  <a:srgbClr val="202124"/>
                </a:solidFill>
                <a:latin typeface="Google Sans Flex"/>
              </a:rPr>
              <a:t>• 1-Click Council Resolution Memo: </a:t>
            </a:r>
            <a:r>
              <a:rPr sz="950">
                <a:solidFill>
                  <a:srgbClr val="202124"/>
                </a:solidFill>
                <a:latin typeface="Google Sans Flex"/>
              </a:rPr>
              <a:t>Generates pre-populated legislative resolution with statutory citations, model justifications, and funding allocations ready for immediate Council vote.</a:t>
            </a:r>
          </a:p>
        </p:txBody>
      </p:sp>
      <p:pic>
        <p:nvPicPr>
          <p:cNvPr id="142" name="Google Shape;142;p31"/>
          <p:cNvPicPr preferRelativeResize="0"/>
          <p:nvPr/>
        </p:nvPicPr>
        <p:blipFill>
          <a:blip r:embed="rId3">
            <a:alphaModFix/>
          </a:blip>
          <a:stretch>
            <a:fillRect/>
          </a:stretch>
        </p:blipFill>
        <p:spPr>
          <a:xfrm rot="10800000">
            <a:off x="0" y="1225522"/>
            <a:ext cx="1936451" cy="2692450"/>
          </a:xfrm>
          <a:prstGeom prst="rect">
            <a:avLst/>
          </a:prstGeom>
          <a:noFill/>
          <a:ln>
            <a:noFill/>
          </a:ln>
        </p:spPr>
      </p:pic>
      <p:pic>
        <p:nvPicPr>
          <p:cNvPr id="143" name="Google Shape;143;p31"/>
          <p:cNvPicPr preferRelativeResize="0"/>
          <p:nvPr/>
        </p:nvPicPr>
        <p:blipFill>
          <a:blip r:embed="rId3">
            <a:alphaModFix/>
          </a:blip>
          <a:stretch>
            <a:fillRect/>
          </a:stretch>
        </p:blipFill>
        <p:spPr>
          <a:xfrm>
            <a:off x="7207550" y="1225522"/>
            <a:ext cx="1936451" cy="2692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7"/>
        </a:solidFill>
      </p:bgPr>
    </p:bg>
    <p:spTree>
      <p:nvGrpSpPr>
        <p:cNvPr id="147" name="Shape 147"/>
        <p:cNvGrpSpPr/>
        <p:nvPr/>
      </p:nvGrpSpPr>
      <p:grpSpPr>
        <a:xfrm>
          <a:off x="0" y="0"/>
          <a:ext cx="0" cy="0"/>
          <a:chOff x="0" y="0"/>
          <a:chExt cx="0" cy="0"/>
        </a:xfrm>
      </p:grpSpPr>
      <p:sp>
        <p:nvSpPr>
          <p:cNvPr id="148" name="Google Shape;148;p32"/>
          <p:cNvSpPr txBox="1"/>
          <p:nvPr/>
        </p:nvSpPr>
        <p:spPr>
          <a:xfrm>
            <a:off x="731520" y="1234440"/>
            <a:ext cx="7680960" cy="356616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200"/>
              </a:spcBef>
              <a:spcAft>
                <a:spcPts val="300"/>
              </a:spcAft>
              <a:buNone/>
              <a:defRPr b="1" sz="1300">
                <a:solidFill>
                  <a:srgbClr val="1A73E8"/>
                </a:solidFill>
                <a:latin typeface="Google Sans Flex Medium"/>
              </a:defRPr>
            </a:pPr>
            <a:r>
              <a:t>🗄️ Curated Data Ecosystem Powering the Agent</a:t>
            </a:r>
            <a:endParaRPr sz="1200">
              <a:solidFill>
                <a:schemeClr val="lt1"/>
              </a:solidFill>
              <a:latin typeface="Google Sans Flex"/>
              <a:ea typeface="Google Sans Flex"/>
              <a:cs typeface="Google Sans Flex"/>
              <a:sym typeface="Google Sans Flex"/>
            </a:endParaRPr>
          </a:p>
          <a:p>
            <a:pPr>
              <a:spcAft>
                <a:spcPts val="300"/>
              </a:spcAft>
            </a:pPr>
            <a:r>
              <a:rPr b="1" sz="950">
                <a:solidFill>
                  <a:srgbClr val="202124"/>
                </a:solidFill>
                <a:latin typeface="Google Sans Flex"/>
              </a:rPr>
              <a:t>• NOAA Heat Watch Vehicle Traverses: </a:t>
            </a:r>
            <a:r>
              <a:rPr sz="950">
                <a:solidFill>
                  <a:srgbClr val="202124"/>
                </a:solidFill>
                <a:latin typeface="Google Sans Flex"/>
              </a:rPr>
              <a:t>High-resolution temperature traverses across 131 Fulton County census tracts on an extreme summer day, capturing afternoon peak heating.</a:t>
            </a:r>
          </a:p>
          <a:p>
            <a:pPr>
              <a:spcAft>
                <a:spcPts val="300"/>
              </a:spcAft>
            </a:pPr>
            <a:r>
              <a:rPr b="1" sz="950">
                <a:solidFill>
                  <a:srgbClr val="202124"/>
                </a:solidFill>
                <a:latin typeface="Google Sans Flex"/>
              </a:rPr>
              <a:t>• BigQuery ML (heat_offset_model): </a:t>
            </a:r>
            <a:r>
              <a:rPr sz="950">
                <a:solidFill>
                  <a:srgbClr val="202124"/>
                </a:solidFill>
                <a:latin typeface="Google Sans Flex"/>
              </a:rPr>
              <a:t>LINEAR_REG model predicting microclimate thermal offset (ΔT ∈ [-1.2°F, +4.77°F]) relative to city baseline—isolating physical infrastructure from weather noise.</a:t>
            </a:r>
          </a:p>
          <a:p>
            <a:pPr>
              <a:spcAft>
                <a:spcPts val="300"/>
              </a:spcAft>
            </a:pPr>
            <a:r>
              <a:rPr b="1" sz="950">
                <a:solidFill>
                  <a:srgbClr val="202124"/>
                </a:solidFill>
                <a:latin typeface="Google Sans Flex"/>
              </a:rPr>
              <a:t>• CDC Social Vulnerability Index (SVI 2022) &amp; Census ACS: </a:t>
            </a:r>
            <a:r>
              <a:rPr sz="950">
                <a:solidFill>
                  <a:srgbClr val="202124"/>
                </a:solidFill>
                <a:latin typeface="Google Sans Flex"/>
              </a:rPr>
              <a:t>Tract-level poverty rates (≥24.5% hardship threshold), vehicle availability (≥14.8% carless), pre-1970 housing age, and elderly populations.</a:t>
            </a:r>
          </a:p>
          <a:p>
            <a:pPr>
              <a:spcAft>
                <a:spcPts val="300"/>
              </a:spcAft>
            </a:pPr>
            <a:r>
              <a:rPr b="1" sz="950">
                <a:solidFill>
                  <a:srgbClr val="202124"/>
                </a:solidFill>
                <a:latin typeface="Google Sans Flex"/>
              </a:rPr>
              <a:t>• NOAA GHCN Station Max (2018–2025): </a:t>
            </a:r>
            <a:r>
              <a:rPr sz="950">
                <a:solidFill>
                  <a:srgbClr val="202124"/>
                </a:solidFill>
                <a:latin typeface="Google Sans Flex"/>
              </a:rPr>
              <a:t>7-year historical weather station records providing longitudinal context and spatial interpolation calibration.</a:t>
            </a:r>
          </a:p>
          <a:p>
            <a:pPr>
              <a:spcAft>
                <a:spcPts val="300"/>
              </a:spcAft>
              <a:defRPr b="1" sz="1300">
                <a:solidFill>
                  <a:srgbClr val="D93025"/>
                </a:solidFill>
                <a:latin typeface="Google Sans Flex Medium"/>
              </a:defRPr>
            </a:pPr>
            <a:r>
              <a:t>🔍 Details: Explainability &amp; Bias Handling</a:t>
            </a:r>
          </a:p>
          <a:p>
            <a:pPr>
              <a:spcAft>
                <a:spcPts val="300"/>
              </a:spcAft>
            </a:pPr>
            <a:r>
              <a:rPr b="1" sz="950">
                <a:solidFill>
                  <a:srgbClr val="202124"/>
                </a:solidFill>
                <a:latin typeface="Google Sans Flex"/>
              </a:rPr>
              <a:t>• ML.EXPLAIN_PREDICT Decomposition: </a:t>
            </a:r>
            <a:r>
              <a:rPr sz="950">
                <a:solidFill>
                  <a:srgbClr val="202124"/>
                </a:solidFill>
                <a:latin typeface="Google Sans Flex"/>
              </a:rPr>
              <a:t>Decomposes heat drivers per block: canopy deficit (+2.4°F), impervious surface density (+1.8°F), and pre-1970 housing vintage.</a:t>
            </a:r>
          </a:p>
          <a:p>
            <a:pPr>
              <a:spcAft>
                <a:spcPts val="300"/>
              </a:spcAft>
            </a:pPr>
            <a:r>
              <a:rPr b="1" sz="950">
                <a:solidFill>
                  <a:srgbClr val="202124"/>
                </a:solidFill>
                <a:latin typeface="Google Sans Flex"/>
              </a:rPr>
              <a:t>• Proactive Bias Handling by Design: </a:t>
            </a:r>
            <a:r>
              <a:rPr sz="950">
                <a:solidFill>
                  <a:srgbClr val="202124"/>
                </a:solidFill>
                <a:latin typeface="Google Sans Flex"/>
              </a:rPr>
              <a:t>Race and ethnicity variables were strictly EXCLUDED from model training to prevent self-fulfilling redlining proxies; equity is enforced post-hoc on outcomes.</a:t>
            </a:r>
          </a:p>
        </p:txBody>
      </p:sp>
      <p:sp>
        <p:nvSpPr>
          <p:cNvPr id="149" name="Google Shape;149;p32"/>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0" name="Google Shape;150;p32"/>
          <p:cNvPicPr preferRelativeResize="0"/>
          <p:nvPr/>
        </p:nvPicPr>
        <p:blipFill>
          <a:blip r:embed="rId3">
            <a:alphaModFix/>
          </a:blip>
          <a:stretch>
            <a:fillRect/>
          </a:stretch>
        </p:blipFill>
        <p:spPr>
          <a:xfrm rot="10800000">
            <a:off x="4175675" y="519496"/>
            <a:ext cx="4769550" cy="951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7"/>
        </a:solidFill>
      </p:bgPr>
    </p:bg>
    <p:spTree>
      <p:nvGrpSpPr>
        <p:cNvPr id="154" name="Shape 154"/>
        <p:cNvGrpSpPr/>
        <p:nvPr/>
      </p:nvGrpSpPr>
      <p:grpSpPr>
        <a:xfrm>
          <a:off x="0" y="0"/>
          <a:ext cx="0" cy="0"/>
          <a:chOff x="0" y="0"/>
          <a:chExt cx="0" cy="0"/>
        </a:xfrm>
      </p:grpSpPr>
      <p:sp>
        <p:nvSpPr>
          <p:cNvPr id="155" name="Google Shape;155;p33"/>
          <p:cNvSpPr txBox="1"/>
          <p:nvPr/>
        </p:nvSpPr>
        <p:spPr>
          <a:xfrm>
            <a:off x="731520" y="1234440"/>
            <a:ext cx="7680960" cy="356616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200"/>
              </a:spcBef>
              <a:spcAft>
                <a:spcPts val="300"/>
              </a:spcAft>
              <a:buNone/>
              <a:defRPr b="1" sz="1300">
                <a:solidFill>
                  <a:srgbClr val="1A73E8"/>
                </a:solidFill>
                <a:latin typeface="Google Sans Flex Medium"/>
              </a:defRPr>
            </a:pPr>
            <a:r>
              <a:t>🏗️ Technical Build &amp; Multi-Agent Architecture Blueprint</a:t>
            </a:r>
            <a:endParaRPr sz="1200">
              <a:solidFill>
                <a:schemeClr val="lt1"/>
              </a:solidFill>
              <a:latin typeface="Google Sans Flex"/>
              <a:ea typeface="Google Sans Flex"/>
              <a:cs typeface="Google Sans Flex"/>
              <a:sym typeface="Google Sans Flex"/>
            </a:endParaRPr>
          </a:p>
          <a:p>
            <a:pPr>
              <a:spcAft>
                <a:spcPts val="300"/>
              </a:spcAft>
            </a:pPr>
            <a:r>
              <a:rPr b="1" sz="950">
                <a:solidFill>
                  <a:srgbClr val="202124"/>
                </a:solidFill>
                <a:latin typeface="Google Sans Flex"/>
              </a:rPr>
              <a:t>• Presentation Plane (React 18 + TS + Leaflet): </a:t>
            </a:r>
            <a:r>
              <a:rPr sz="950">
                <a:solidFill>
                  <a:srgbClr val="202124"/>
                </a:solidFill>
                <a:latin typeface="Google Sans Flex"/>
              </a:rPr>
              <a:t>Municipal executive dashboard with real-time temperature slider (85°–105°F), interactive 800m isochrone walk overlays, and zero-key OSM map tiles.</a:t>
            </a:r>
          </a:p>
          <a:p>
            <a:pPr>
              <a:spcAft>
                <a:spcPts val="300"/>
              </a:spcAft>
            </a:pPr>
            <a:r>
              <a:rPr b="1" sz="950">
                <a:solidFill>
                  <a:srgbClr val="202124"/>
                </a:solidFill>
                <a:latin typeface="Google Sans Flex"/>
              </a:rPr>
              <a:t>• Agent Runtime (Gemini 2.5 Flash on Vertex AI): </a:t>
            </a:r>
            <a:r>
              <a:rPr sz="950">
                <a:solidFill>
                  <a:srgbClr val="202124"/>
                </a:solidFill>
                <a:latin typeface="Google Sans Flex"/>
              </a:rPr>
              <a:t>Google ADK orchestration runtime with isolated planning sessions, bounded spatial guardrails ([-84.55, 33.64] to [-84.28, 33.89]), and correlated telemetry spans.</a:t>
            </a:r>
          </a:p>
          <a:p>
            <a:pPr>
              <a:spcAft>
                <a:spcPts val="300"/>
              </a:spcAft>
            </a:pPr>
            <a:r>
              <a:rPr b="1" sz="950">
                <a:solidFill>
                  <a:srgbClr val="202124"/>
                </a:solidFill>
                <a:latin typeface="Google Sans Flex"/>
              </a:rPr>
              <a:t>• Domain Toolset (7 Python Bindings): </a:t>
            </a:r>
            <a:r>
              <a:rPr sz="950">
                <a:solidFill>
                  <a:srgbClr val="202124"/>
                </a:solidFill>
                <a:latin typeface="Google Sans Flex"/>
              </a:rPr>
              <a:t>predict_heat_offset, rank_cooling_centers, audit_equity, compare_tracts, query_history, generate_council_memo with standardized error contracts.</a:t>
            </a:r>
          </a:p>
          <a:p>
            <a:pPr>
              <a:spcAft>
                <a:spcPts val="300"/>
              </a:spcAft>
            </a:pPr>
            <a:r>
              <a:rPr b="1" sz="950">
                <a:solidFill>
                  <a:srgbClr val="202124"/>
                </a:solidFill>
                <a:latin typeface="Google Sans Flex"/>
              </a:rPr>
              <a:t>• Serverless Infrastructure (Cloud Run Gen2): </a:t>
            </a:r>
            <a:r>
              <a:rPr sz="950">
                <a:solidFill>
                  <a:srgbClr val="202124"/>
                </a:solidFill>
                <a:latin typeface="Google Sans Flex"/>
              </a:rPr>
              <a:t>Production Python service hosting /run endpoint (&lt;600ms latency), Application Default Credentials (zero API key exposure), and reverse-proxied /api/agent via Vite.</a:t>
            </a:r>
          </a:p>
          <a:p>
            <a:pPr>
              <a:spcAft>
                <a:spcPts val="300"/>
              </a:spcAft>
              <a:defRPr b="1" sz="1300">
                <a:solidFill>
                  <a:srgbClr val="1E8E3E"/>
                </a:solidFill>
                <a:latin typeface="Google Sans Flex Medium"/>
              </a:defRPr>
            </a:pPr>
            <a:r>
              <a:t>🗺️ Multi-Clock Strategic Roadmap</a:t>
            </a:r>
          </a:p>
          <a:p>
            <a:pPr>
              <a:spcAft>
                <a:spcPts val="300"/>
              </a:spcAft>
            </a:pPr>
            <a:r>
              <a:rPr b="1" sz="950">
                <a:solidFill>
                  <a:srgbClr val="202124"/>
                </a:solidFill>
                <a:latin typeface="Google Sans Flex"/>
              </a:rPr>
              <a:t>• ⚡ Today (Emergency): </a:t>
            </a:r>
            <a:r>
              <a:rPr sz="950">
                <a:solidFill>
                  <a:srgbClr val="202124"/>
                </a:solidFill>
                <a:latin typeface="Google Sans Flex"/>
              </a:rPr>
              <a:t>Dispatch mobile hydration vans and cooling buses to Sweet Auburn during Heat Advisories (≥95°F).</a:t>
            </a:r>
          </a:p>
          <a:p>
            <a:pPr>
              <a:spcAft>
                <a:spcPts val="300"/>
              </a:spcAft>
            </a:pPr>
            <a:r>
              <a:rPr b="1" sz="950">
                <a:solidFill>
                  <a:srgbClr val="202124"/>
                </a:solidFill>
                <a:latin typeface="Google Sans Flex"/>
              </a:rPr>
              <a:t>• 🏛️ This Budget Cycle: </a:t>
            </a:r>
            <a:r>
              <a:rPr sz="950">
                <a:solidFill>
                  <a:srgbClr val="202124"/>
                </a:solidFill>
                <a:latin typeface="Google Sans Flex"/>
              </a:rPr>
              <a:t>Fund solar-reflective shade-sails at 42 unshaded MARTA stops inside 10-minute walk buffers.</a:t>
            </a:r>
          </a:p>
          <a:p>
            <a:pPr>
              <a:spcAft>
                <a:spcPts val="300"/>
              </a:spcAft>
            </a:pPr>
            <a:r>
              <a:rPr b="1" sz="950">
                <a:solidFill>
                  <a:srgbClr val="202124"/>
                </a:solidFill>
                <a:latin typeface="Google Sans Flex"/>
              </a:rPr>
              <a:t>• 🌳 This Decade: </a:t>
            </a:r>
            <a:r>
              <a:rPr sz="950">
                <a:solidFill>
                  <a:srgbClr val="202124"/>
                </a:solidFill>
                <a:latin typeface="Google Sans Flex"/>
              </a:rPr>
              <a:t>Urban forestry program targeted at the bottom 20% canopy tracts to reverse microclimate disparity.</a:t>
            </a:r>
          </a:p>
        </p:txBody>
      </p:sp>
      <p:sp>
        <p:nvSpPr>
          <p:cNvPr id="156" name="Google Shape;156;p33"/>
          <p:cNvSpPr txBox="1"/>
          <p:nvPr>
            <p:ph idx="12" type="sldNum"/>
          </p:nvPr>
        </p:nvSpPr>
        <p:spPr>
          <a:xfrm>
            <a:off x="8365633" y="470888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33"/>
          <p:cNvSpPr txBox="1"/>
          <p:nvPr/>
        </p:nvSpPr>
        <p:spPr>
          <a:xfrm>
            <a:off x="425666" y="509013"/>
            <a:ext cx="855600" cy="1315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9000">
                <a:solidFill>
                  <a:srgbClr val="F8F8F8"/>
                </a:solidFill>
                <a:latin typeface="Google Sans Flex Thin"/>
                <a:ea typeface="Google Sans Flex Thin"/>
                <a:cs typeface="Google Sans Flex Thin"/>
                <a:sym typeface="Google Sans Flex Thin"/>
              </a:rPr>
              <a:t>(</a:t>
            </a:r>
            <a:endParaRPr sz="9000">
              <a:solidFill>
                <a:srgbClr val="F8F8F8"/>
              </a:solidFill>
              <a:latin typeface="Google Sans Flex Thin"/>
              <a:ea typeface="Google Sans Flex Thin"/>
              <a:cs typeface="Google Sans Flex Thin"/>
              <a:sym typeface="Google Sans Flex Thin"/>
            </a:endParaRPr>
          </a:p>
        </p:txBody>
      </p:sp>
      <p:sp>
        <p:nvSpPr>
          <p:cNvPr id="158" name="Google Shape;158;p33"/>
          <p:cNvSpPr txBox="1"/>
          <p:nvPr/>
        </p:nvSpPr>
        <p:spPr>
          <a:xfrm rot="10800000">
            <a:off x="3230216" y="585213"/>
            <a:ext cx="855600" cy="1315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9000">
                <a:solidFill>
                  <a:srgbClr val="F8F8F8"/>
                </a:solidFill>
                <a:latin typeface="Google Sans Flex Thin"/>
                <a:ea typeface="Google Sans Flex Thin"/>
                <a:cs typeface="Google Sans Flex Thin"/>
                <a:sym typeface="Google Sans Flex Thin"/>
              </a:rPr>
              <a:t>(</a:t>
            </a:r>
            <a:endParaRPr sz="9000">
              <a:solidFill>
                <a:srgbClr val="F8F8F8"/>
              </a:solidFill>
              <a:latin typeface="Google Sans Flex Thin"/>
              <a:ea typeface="Google Sans Flex Thin"/>
              <a:cs typeface="Google Sans Flex Thin"/>
              <a:sym typeface="Google Sans Flex Thi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